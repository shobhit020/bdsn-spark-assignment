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4"/>
  </p:sldMasterIdLst>
  <p:sldIdLst>
    <p:sldId id="256" r:id="rId5"/>
    <p:sldId id="257" r:id="rId6"/>
    <p:sldId id="259" r:id="rId7"/>
    <p:sldId id="261" r:id="rId8"/>
    <p:sldId id="262" r:id="rId9"/>
    <p:sldId id="263" r:id="rId10"/>
    <p:sldId id="265" r:id="rId11"/>
    <p:sldId id="271" r:id="rId12"/>
    <p:sldId id="266" r:id="rId13"/>
    <p:sldId id="267" r:id="rId14"/>
    <p:sldId id="276" r:id="rId15"/>
    <p:sldId id="268" r:id="rId16"/>
    <p:sldId id="269" r:id="rId17"/>
    <p:sldId id="270" r:id="rId18"/>
    <p:sldId id="272" r:id="rId19"/>
    <p:sldId id="275" r:id="rId20"/>
    <p:sldId id="277" r:id="rId21"/>
    <p:sldId id="278" r:id="rId22"/>
    <p:sldId id="279" r:id="rId23"/>
    <p:sldId id="280" r:id="rId24"/>
    <p:sldId id="281" r:id="rId25"/>
    <p:sldId id="27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8DBB"/>
    <a:srgbClr val="F0F0F0"/>
    <a:srgbClr val="CAE1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8" autoAdjust="0"/>
    <p:restoredTop sz="94660"/>
  </p:normalViewPr>
  <p:slideViewPr>
    <p:cSldViewPr snapToGrid="0">
      <p:cViewPr>
        <p:scale>
          <a:sx n="66" d="100"/>
          <a:sy n="66" d="100"/>
        </p:scale>
        <p:origin x="418" y="55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pPr/>
              <a:t>3/5/2022</a:t>
            </a:fld>
            <a:endParaRPr lang="en-US" sz="140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0215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126454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C3BD54-29B9-3D42-B178-776ED395AA85}"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72285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C3BD54-29B9-3D42-B178-776ED395AA85}" type="datetimeFigureOut">
              <a:rPr lang="en-US" smtClean="0"/>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618334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C3BD54-29B9-3D42-B178-776ED395AA85}" type="datetimeFigureOut">
              <a:rPr lang="en-US" smtClean="0"/>
              <a:t>3/5/2022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711674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C3BD54-29B9-3D42-B178-776ED395AA85}" type="datetimeFigureOut">
              <a:rPr lang="en-US" smtClean="0"/>
              <a:t>3/5/2022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1739355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C3BD54-29B9-3D42-B178-776ED395AA85}" type="datetimeFigureOut">
              <a:rPr lang="en-US" smtClean="0"/>
              <a:t>3/5/2022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1481782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C3BD54-29B9-3D42-B178-776ED395AA85}" type="datetimeFigureOut">
              <a:rPr lang="en-US" smtClean="0"/>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897386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C3BD54-29B9-3D42-B178-776ED395AA85}" type="datetimeFigureOut">
              <a:rPr lang="en-US" smtClean="0"/>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103454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73C3BD54-29B9-3D42-B178-776ED395AA85}" type="datetimeFigureOut">
              <a:rPr lang="en-US" smtClean="0"/>
              <a:pPr/>
              <a:t>3/5/2022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6BB3423-611C-6944-BA94-F2572F362413}" type="slidenum">
              <a:rPr lang="en-US" smtClean="0"/>
              <a:pPr/>
              <a:t>‹#›</a:t>
            </a:fld>
            <a:endParaRPr lang="en-US"/>
          </a:p>
        </p:txBody>
      </p:sp>
    </p:spTree>
    <p:extLst>
      <p:ext uri="{BB962C8B-B14F-4D97-AF65-F5344CB8AC3E}">
        <p14:creationId xmlns:p14="http://schemas.microsoft.com/office/powerpoint/2010/main" val="1020474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C3BD54-29B9-3D42-B178-776ED395AA85}" type="datetimeFigureOut">
              <a:rPr lang="en-US" smtClean="0"/>
              <a:pPr/>
              <a:t>3/5/2022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BB3423-611C-6944-BA94-F2572F362413}" type="slidenum">
              <a:rPr lang="en-US" smtClean="0"/>
              <a:pPr/>
              <a:t>‹#›</a:t>
            </a:fld>
            <a:endParaRPr lang="en-US"/>
          </a:p>
        </p:txBody>
      </p:sp>
    </p:spTree>
    <p:extLst>
      <p:ext uri="{BB962C8B-B14F-4D97-AF65-F5344CB8AC3E}">
        <p14:creationId xmlns:p14="http://schemas.microsoft.com/office/powerpoint/2010/main" val="1660532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C3BD54-29B9-3D42-B178-776ED395AA85}" type="datetimeFigureOut">
              <a:rPr lang="en-US" smtClean="0"/>
              <a:pPr/>
              <a:t>3/5/2022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BB3423-611C-6944-BA94-F2572F362413}"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7089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C3BD54-29B9-3D42-B178-776ED395AA85}" type="datetimeFigureOut">
              <a:rPr lang="en-US" smtClean="0"/>
              <a:pPr/>
              <a:t>3/5/2022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BB3423-611C-6944-BA94-F2572F362413}" type="slidenum">
              <a:rPr lang="en-US" smtClean="0"/>
              <a:pPr/>
              <a:t>‹#›</a:t>
            </a:fld>
            <a:endParaRPr lang="en-US"/>
          </a:p>
        </p:txBody>
      </p:sp>
    </p:spTree>
    <p:extLst>
      <p:ext uri="{BB962C8B-B14F-4D97-AF65-F5344CB8AC3E}">
        <p14:creationId xmlns:p14="http://schemas.microsoft.com/office/powerpoint/2010/main" val="4141896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C3BD54-29B9-3D42-B178-776ED395AA85}" type="datetimeFigureOut">
              <a:rPr lang="en-US" smtClean="0"/>
              <a:pPr/>
              <a:t>3/5/2022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BB3423-611C-6944-BA94-F2572F362413}"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287276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C3BD54-29B9-3D42-B178-776ED395AA85}" type="datetimeFigureOut">
              <a:rPr lang="en-US" smtClean="0"/>
              <a:pPr/>
              <a:t>3/5/2022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BB3423-611C-6944-BA94-F2572F362413}" type="slidenum">
              <a:rPr lang="en-US" smtClean="0"/>
              <a:pPr/>
              <a:t>‹#›</a:t>
            </a:fld>
            <a:endParaRPr lang="en-US"/>
          </a:p>
        </p:txBody>
      </p:sp>
    </p:spTree>
    <p:extLst>
      <p:ext uri="{BB962C8B-B14F-4D97-AF65-F5344CB8AC3E}">
        <p14:creationId xmlns:p14="http://schemas.microsoft.com/office/powerpoint/2010/main" val="1105038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1640992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269087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73C3BD54-29B9-3D42-B178-776ED395AA85}" type="datetimeFigureOut">
              <a:rPr lang="en-US" smtClean="0"/>
              <a:pPr/>
              <a:t>3/5/2022</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86BB3423-611C-6944-BA94-F2572F362413}" type="slidenum">
              <a:rPr lang="en-US" smtClean="0"/>
              <a:pPr/>
              <a:t>‹#›</a:t>
            </a:fld>
            <a:endParaRPr lang="en-US"/>
          </a:p>
        </p:txBody>
      </p:sp>
    </p:spTree>
    <p:extLst>
      <p:ext uri="{BB962C8B-B14F-4D97-AF65-F5344CB8AC3E}">
        <p14:creationId xmlns:p14="http://schemas.microsoft.com/office/powerpoint/2010/main" val="3555882416"/>
      </p:ext>
    </p:extLst>
  </p:cSld>
  <p:clrMap bg1="dk1" tx1="lt1" bg2="dk2" tx2="lt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 id="214748392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kaggle.com/ealaxi/paysim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5" name="Rectangle 19">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21">
            <a:extLst>
              <a:ext uri="{FF2B5EF4-FFF2-40B4-BE49-F238E27FC236}">
                <a16:creationId xmlns:a16="http://schemas.microsoft.com/office/drawing/2014/main" id="{C97986E7-0E3C-4F64-886E-935DDCB83A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73033" y="1420238"/>
            <a:ext cx="4415786" cy="4751961"/>
            <a:chOff x="9206969" y="2963333"/>
            <a:chExt cx="2981858" cy="3208867"/>
          </a:xfrm>
        </p:grpSpPr>
        <p:cxnSp>
          <p:nvCxnSpPr>
            <p:cNvPr id="23" name="Straight Connector 22">
              <a:extLst>
                <a:ext uri="{FF2B5EF4-FFF2-40B4-BE49-F238E27FC236}">
                  <a16:creationId xmlns:a16="http://schemas.microsoft.com/office/drawing/2014/main" id="{B903D17F-F79E-40E5-9563-A1CFFCC06A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23">
              <a:extLst>
                <a:ext uri="{FF2B5EF4-FFF2-40B4-BE49-F238E27FC236}">
                  <a16:creationId xmlns:a16="http://schemas.microsoft.com/office/drawing/2014/main" id="{CA5D5775-627F-4588-82B3-905EDF2313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D7F2A20-5DE4-4BC0-91EA-5FFE33A4D3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25">
              <a:extLst>
                <a:ext uri="{FF2B5EF4-FFF2-40B4-BE49-F238E27FC236}">
                  <a16:creationId xmlns:a16="http://schemas.microsoft.com/office/drawing/2014/main" id="{3D536BA0-56C7-429C-B41E-B5724F0CD4C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F15726F-71BE-4007-B9B6-0A1AA0D520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A5C93B1D-85B2-4754-82A5-EEF883186AE5}"/>
              </a:ext>
            </a:extLst>
          </p:cNvPr>
          <p:cNvSpPr>
            <a:spLocks noGrp="1"/>
          </p:cNvSpPr>
          <p:nvPr>
            <p:ph type="ctrTitle"/>
          </p:nvPr>
        </p:nvSpPr>
        <p:spPr>
          <a:xfrm>
            <a:off x="684211" y="685799"/>
            <a:ext cx="5411789" cy="2971801"/>
          </a:xfrm>
        </p:spPr>
        <p:txBody>
          <a:bodyPr>
            <a:noAutofit/>
          </a:bodyPr>
          <a:lstStyle/>
          <a:p>
            <a:r>
              <a:rPr lang="en-US" sz="13800" b="1" dirty="0">
                <a:solidFill>
                  <a:srgbClr val="178DBB"/>
                </a:solidFill>
                <a:latin typeface="Tenorite Display" panose="00000500000000000000" pitchFamily="2" charset="0"/>
              </a:rPr>
              <a:t>BDSN</a:t>
            </a:r>
            <a:br>
              <a:rPr lang="en-US" sz="5400" dirty="0">
                <a:latin typeface="Tenorite Display" panose="00000500000000000000" pitchFamily="2" charset="0"/>
              </a:rPr>
            </a:br>
            <a:r>
              <a:rPr lang="en-US" sz="5400" dirty="0">
                <a:latin typeface="Tenorite Display" panose="00000500000000000000" pitchFamily="2" charset="0"/>
              </a:rPr>
              <a:t>Assignment</a:t>
            </a:r>
          </a:p>
        </p:txBody>
      </p:sp>
      <p:sp>
        <p:nvSpPr>
          <p:cNvPr id="3" name="Subtitle 2">
            <a:extLst>
              <a:ext uri="{FF2B5EF4-FFF2-40B4-BE49-F238E27FC236}">
                <a16:creationId xmlns:a16="http://schemas.microsoft.com/office/drawing/2014/main" id="{E19C5F6A-E6B5-4DD6-94F8-329FCAAEC4AF}"/>
              </a:ext>
            </a:extLst>
          </p:cNvPr>
          <p:cNvSpPr>
            <a:spLocks noGrp="1"/>
          </p:cNvSpPr>
          <p:nvPr>
            <p:ph type="subTitle" idx="1"/>
          </p:nvPr>
        </p:nvSpPr>
        <p:spPr>
          <a:xfrm>
            <a:off x="684211" y="5884333"/>
            <a:ext cx="6400800" cy="973667"/>
          </a:xfrm>
        </p:spPr>
        <p:txBody>
          <a:bodyPr>
            <a:normAutofit/>
          </a:bodyPr>
          <a:lstStyle/>
          <a:p>
            <a:r>
              <a:rPr lang="en-US" b="1" dirty="0">
                <a:solidFill>
                  <a:schemeClr val="tx2">
                    <a:lumMod val="75000"/>
                  </a:schemeClr>
                </a:solidFill>
                <a:latin typeface="Tenorite" panose="00000500000000000000" pitchFamily="2" charset="0"/>
                <a:cs typeface="Calibri" panose="020F0502020204030204" pitchFamily="34" charset="0"/>
              </a:rPr>
              <a:t>SUBMITTED BY : </a:t>
            </a:r>
            <a:r>
              <a:rPr lang="en-US" dirty="0">
                <a:solidFill>
                  <a:schemeClr val="tx1"/>
                </a:solidFill>
                <a:latin typeface="Tenorite" panose="00000500000000000000" pitchFamily="2" charset="0"/>
                <a:cs typeface="Calibri" panose="020F0502020204030204" pitchFamily="34" charset="0"/>
              </a:rPr>
              <a:t>SHOBHIT SHARMA</a:t>
            </a:r>
          </a:p>
          <a:p>
            <a:r>
              <a:rPr lang="en-US" dirty="0">
                <a:solidFill>
                  <a:schemeClr val="tx1"/>
                </a:solidFill>
                <a:latin typeface="Tenorite" panose="00000500000000000000" pitchFamily="2" charset="0"/>
                <a:cs typeface="Calibri" panose="020F0502020204030204" pitchFamily="34" charset="0"/>
              </a:rPr>
              <a:t>				  (A21030)</a:t>
            </a:r>
          </a:p>
        </p:txBody>
      </p:sp>
    </p:spTree>
    <p:extLst>
      <p:ext uri="{BB962C8B-B14F-4D97-AF65-F5344CB8AC3E}">
        <p14:creationId xmlns:p14="http://schemas.microsoft.com/office/powerpoint/2010/main" val="328134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40010D2-3EDC-4746-8550-DEDE29882372}"/>
              </a:ext>
            </a:extLst>
          </p:cNvPr>
          <p:cNvSpPr>
            <a:spLocks noGrp="1"/>
          </p:cNvSpPr>
          <p:nvPr>
            <p:ph type="title"/>
          </p:nvPr>
        </p:nvSpPr>
        <p:spPr>
          <a:xfrm>
            <a:off x="1889587" y="624110"/>
            <a:ext cx="8412826" cy="730128"/>
          </a:xfrm>
        </p:spPr>
        <p:txBody>
          <a:bodyPr vert="horz" lIns="91440" tIns="45720" rIns="91440" bIns="45720" rtlCol="0">
            <a:noAutofit/>
          </a:bodyPr>
          <a:lstStyle/>
          <a:p>
            <a:pPr algn="ctr"/>
            <a:r>
              <a:rPr lang="en-US" sz="4400" b="1" dirty="0">
                <a:solidFill>
                  <a:srgbClr val="178DBB"/>
                </a:solidFill>
                <a:latin typeface="Tenorite Display" panose="00000500000000000000" pitchFamily="2" charset="0"/>
              </a:rPr>
              <a:t>QUICK GLANCE AT THE DATASET</a:t>
            </a:r>
            <a:endParaRPr lang="en-US" sz="4400" dirty="0">
              <a:solidFill>
                <a:srgbClr val="178DBB"/>
              </a:solidFill>
              <a:latin typeface="Tenorite Display" panose="00000500000000000000" pitchFamily="2" charset="0"/>
            </a:endParaRPr>
          </a:p>
        </p:txBody>
      </p:sp>
      <p:pic>
        <p:nvPicPr>
          <p:cNvPr id="7" name="Picture 6" descr="Table&#10;&#10;Description automatically generated">
            <a:extLst>
              <a:ext uri="{FF2B5EF4-FFF2-40B4-BE49-F238E27FC236}">
                <a16:creationId xmlns:a16="http://schemas.microsoft.com/office/drawing/2014/main" id="{3C00D740-D3D8-401A-8E4C-850BFECBF865}"/>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5300"/>
                    </a14:imgEffect>
                    <a14:imgEffect>
                      <a14:saturation sat="200000"/>
                    </a14:imgEffect>
                  </a14:imgLayer>
                </a14:imgProps>
              </a:ext>
            </a:extLst>
          </a:blip>
          <a:srcRect t="1" b="39845"/>
          <a:stretch/>
        </p:blipFill>
        <p:spPr>
          <a:xfrm>
            <a:off x="867156" y="1870325"/>
            <a:ext cx="10457687" cy="4363565"/>
          </a:xfrm>
          <a:prstGeom prst="rect">
            <a:avLst/>
          </a:prstGeom>
          <a:noFill/>
        </p:spPr>
      </p:pic>
    </p:spTree>
    <p:extLst>
      <p:ext uri="{BB962C8B-B14F-4D97-AF65-F5344CB8AC3E}">
        <p14:creationId xmlns:p14="http://schemas.microsoft.com/office/powerpoint/2010/main" val="3574088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0">
            <a:extLst>
              <a:ext uri="{FF2B5EF4-FFF2-40B4-BE49-F238E27FC236}">
                <a16:creationId xmlns:a16="http://schemas.microsoft.com/office/drawing/2014/main" id="{586B4D1F-DEC7-4B42-8973-C15CDFCD3D20}"/>
              </a:ext>
            </a:extLst>
          </p:cNvPr>
          <p:cNvSpPr txBox="1">
            <a:spLocks/>
          </p:cNvSpPr>
          <p:nvPr/>
        </p:nvSpPr>
        <p:spPr>
          <a:xfrm>
            <a:off x="1889587" y="624110"/>
            <a:ext cx="8412826" cy="730128"/>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dirty="0">
                <a:solidFill>
                  <a:srgbClr val="178DBB"/>
                </a:solidFill>
                <a:latin typeface="Tenorite Display" panose="00000500000000000000" pitchFamily="2" charset="0"/>
              </a:rPr>
              <a:t>BACKGROUND</a:t>
            </a:r>
            <a:endParaRPr lang="en-US" sz="4400" dirty="0">
              <a:solidFill>
                <a:srgbClr val="178DBB"/>
              </a:solidFill>
              <a:latin typeface="Tenorite Display" panose="00000500000000000000" pitchFamily="2" charset="0"/>
            </a:endParaRPr>
          </a:p>
        </p:txBody>
      </p:sp>
      <p:sp>
        <p:nvSpPr>
          <p:cNvPr id="6" name="TextBox 5">
            <a:extLst>
              <a:ext uri="{FF2B5EF4-FFF2-40B4-BE49-F238E27FC236}">
                <a16:creationId xmlns:a16="http://schemas.microsoft.com/office/drawing/2014/main" id="{8BC2AE28-CC9B-4832-A19C-C49B8328E4B0}"/>
              </a:ext>
            </a:extLst>
          </p:cNvPr>
          <p:cNvSpPr txBox="1"/>
          <p:nvPr/>
        </p:nvSpPr>
        <p:spPr>
          <a:xfrm>
            <a:off x="2134654" y="1651193"/>
            <a:ext cx="8399924" cy="3785652"/>
          </a:xfrm>
          <a:prstGeom prst="rect">
            <a:avLst/>
          </a:prstGeom>
          <a:noFill/>
        </p:spPr>
        <p:txBody>
          <a:bodyPr wrap="square">
            <a:spAutoFit/>
          </a:bodyPr>
          <a:lstStyle/>
          <a:p>
            <a:pPr marL="342900" indent="-342900" algn="l">
              <a:buFont typeface="Wingdings" panose="05000000000000000000" pitchFamily="2" charset="2"/>
              <a:buChar char="v"/>
            </a:pPr>
            <a:r>
              <a:rPr lang="en-US" sz="2000" i="0" dirty="0">
                <a:ln w="0"/>
                <a:latin typeface="Tenorite" panose="00000500000000000000" pitchFamily="2" charset="0"/>
                <a:cs typeface="Calibri" panose="020F0502020204030204" pitchFamily="34" charset="0"/>
              </a:rPr>
              <a:t>There is a lack of publicly available datasets on financial services and specially in the emerging mobile money transactions domain. Financial datasets are important to many researchers in the domain of fraud detection. Part of the problem is the intrinsically private nature of financial transactions, that leads to no publicly available datasets for model exploration and building.</a:t>
            </a:r>
          </a:p>
          <a:p>
            <a:pPr marL="342900" indent="-342900" algn="l">
              <a:buFont typeface="Wingdings" panose="05000000000000000000" pitchFamily="2" charset="2"/>
              <a:buChar char="v"/>
            </a:pPr>
            <a:endParaRPr lang="en-US" sz="2000" i="0" dirty="0">
              <a:ln w="0"/>
              <a:latin typeface="Tenorite" panose="00000500000000000000" pitchFamily="2" charset="0"/>
              <a:cs typeface="Calibri" panose="020F0502020204030204" pitchFamily="34" charset="0"/>
            </a:endParaRPr>
          </a:p>
          <a:p>
            <a:pPr marL="342900" indent="-342900" algn="l">
              <a:buFont typeface="Wingdings" panose="05000000000000000000" pitchFamily="2" charset="2"/>
              <a:buChar char="v"/>
            </a:pPr>
            <a:r>
              <a:rPr lang="en-US" sz="2000" i="0" dirty="0">
                <a:ln w="0"/>
                <a:latin typeface="Tenorite" panose="00000500000000000000" pitchFamily="2" charset="0"/>
                <a:cs typeface="Calibri" panose="020F0502020204030204" pitchFamily="34" charset="0"/>
              </a:rPr>
              <a:t>A synthetic dataset were generated using the simulator called PaySim. PaySim uses aggregated data from the private dataset to generate a synthetic dataset that resembles the normal operation of transactions and injects malicious behavior to later evaluate the performance of fraud detection methods.</a:t>
            </a:r>
          </a:p>
        </p:txBody>
      </p:sp>
    </p:spTree>
    <p:extLst>
      <p:ext uri="{BB962C8B-B14F-4D97-AF65-F5344CB8AC3E}">
        <p14:creationId xmlns:p14="http://schemas.microsoft.com/office/powerpoint/2010/main" val="2239256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0">
            <a:extLst>
              <a:ext uri="{FF2B5EF4-FFF2-40B4-BE49-F238E27FC236}">
                <a16:creationId xmlns:a16="http://schemas.microsoft.com/office/drawing/2014/main" id="{BC438F82-F2C6-4132-9898-D244AA452B22}"/>
              </a:ext>
            </a:extLst>
          </p:cNvPr>
          <p:cNvSpPr>
            <a:spLocks noGrp="1"/>
          </p:cNvSpPr>
          <p:nvPr>
            <p:ph type="title"/>
          </p:nvPr>
        </p:nvSpPr>
        <p:spPr>
          <a:xfrm>
            <a:off x="1889587" y="624110"/>
            <a:ext cx="8412826" cy="730128"/>
          </a:xfrm>
        </p:spPr>
        <p:txBody>
          <a:bodyPr vert="horz" lIns="91440" tIns="45720" rIns="91440" bIns="45720" rtlCol="0">
            <a:noAutofit/>
          </a:bodyPr>
          <a:lstStyle/>
          <a:p>
            <a:pPr algn="ctr"/>
            <a:r>
              <a:rPr lang="en-US" sz="4400" b="1" dirty="0">
                <a:solidFill>
                  <a:srgbClr val="178DBB"/>
                </a:solidFill>
                <a:latin typeface="Tenorite Display" panose="00000500000000000000" pitchFamily="2" charset="0"/>
              </a:rPr>
              <a:t>OBJECTIVE</a:t>
            </a:r>
            <a:endParaRPr lang="en-US" sz="4400" dirty="0">
              <a:solidFill>
                <a:srgbClr val="178DBB"/>
              </a:solidFill>
              <a:latin typeface="Tenorite Display" panose="00000500000000000000" pitchFamily="2" charset="0"/>
            </a:endParaRPr>
          </a:p>
        </p:txBody>
      </p:sp>
      <p:sp>
        <p:nvSpPr>
          <p:cNvPr id="6" name="TextBox 5">
            <a:extLst>
              <a:ext uri="{FF2B5EF4-FFF2-40B4-BE49-F238E27FC236}">
                <a16:creationId xmlns:a16="http://schemas.microsoft.com/office/drawing/2014/main" id="{8BC2AE28-CC9B-4832-A19C-C49B8328E4B0}"/>
              </a:ext>
            </a:extLst>
          </p:cNvPr>
          <p:cNvSpPr txBox="1"/>
          <p:nvPr/>
        </p:nvSpPr>
        <p:spPr>
          <a:xfrm>
            <a:off x="4828465" y="2191473"/>
            <a:ext cx="5793804" cy="3777622"/>
          </a:xfrm>
          <a:prstGeom prst="rect">
            <a:avLst/>
          </a:prstGeom>
        </p:spPr>
        <p:txBody>
          <a:bodyPr vert="horz" lIns="91440" tIns="45720" rIns="91440" bIns="45720" rtlCol="0">
            <a:normAutofit/>
          </a:bodyPr>
          <a:lstStyle/>
          <a:p>
            <a:pPr marL="342900" indent="-342900">
              <a:lnSpc>
                <a:spcPct val="150000"/>
              </a:lnSpc>
              <a:spcBef>
                <a:spcPts val="1000"/>
              </a:spcBef>
              <a:buClr>
                <a:srgbClr val="178DBB"/>
              </a:buClr>
              <a:buFont typeface="Wingdings 3" charset="2"/>
              <a:buChar char=""/>
            </a:pPr>
            <a:r>
              <a:rPr lang="en-US" sz="2000" b="0" i="0" dirty="0">
                <a:effectLst/>
                <a:latin typeface="Tenorite" panose="00000500000000000000" pitchFamily="2" charset="0"/>
                <a:cs typeface="Calibri" panose="020F0502020204030204" pitchFamily="34" charset="0"/>
              </a:rPr>
              <a:t>The goal of this analysis is to develop a generalized model to deal with big and imbalance data prediction that suitable to real-world applications. The big data part was solved by using the </a:t>
            </a:r>
            <a:r>
              <a:rPr lang="en-US" sz="2000" dirty="0">
                <a:latin typeface="Tenorite" panose="00000500000000000000" pitchFamily="2" charset="0"/>
                <a:cs typeface="Calibri" panose="020F0502020204030204" pitchFamily="34" charset="0"/>
              </a:rPr>
              <a:t>P</a:t>
            </a:r>
            <a:r>
              <a:rPr lang="en-US" sz="2000" b="0" i="0" dirty="0">
                <a:effectLst/>
                <a:latin typeface="Tenorite" panose="00000500000000000000" pitchFamily="2" charset="0"/>
                <a:cs typeface="Calibri" panose="020F0502020204030204" pitchFamily="34" charset="0"/>
              </a:rPr>
              <a:t>ySpark.</a:t>
            </a:r>
          </a:p>
        </p:txBody>
      </p:sp>
      <p:pic>
        <p:nvPicPr>
          <p:cNvPr id="10" name="Graphic 9" descr="Research">
            <a:extLst>
              <a:ext uri="{FF2B5EF4-FFF2-40B4-BE49-F238E27FC236}">
                <a16:creationId xmlns:a16="http://schemas.microsoft.com/office/drawing/2014/main" id="{E81552A3-FEFE-476A-8C8C-41268FFE37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65818" y="1732902"/>
            <a:ext cx="4125013" cy="4125013"/>
          </a:xfrm>
          <a:prstGeom prst="rect">
            <a:avLst/>
          </a:prstGeom>
        </p:spPr>
      </p:pic>
      <p:sp>
        <p:nvSpPr>
          <p:cNvPr id="14" name="TextBox 13">
            <a:extLst>
              <a:ext uri="{FF2B5EF4-FFF2-40B4-BE49-F238E27FC236}">
                <a16:creationId xmlns:a16="http://schemas.microsoft.com/office/drawing/2014/main" id="{1F5FA24E-FBD8-4708-BF35-2498E71A7BA6}"/>
              </a:ext>
            </a:extLst>
          </p:cNvPr>
          <p:cNvSpPr txBox="1"/>
          <p:nvPr/>
        </p:nvSpPr>
        <p:spPr>
          <a:xfrm>
            <a:off x="4828465" y="6316486"/>
            <a:ext cx="7000862" cy="505743"/>
          </a:xfrm>
          <a:prstGeom prst="rect">
            <a:avLst/>
          </a:prstGeom>
        </p:spPr>
        <p:txBody>
          <a:bodyPr vert="horz" lIns="91440" tIns="45720" rIns="91440" bIns="45720" rtlCol="0">
            <a:normAutofit fontScale="92500"/>
          </a:bodyPr>
          <a:lstStyle/>
          <a:p>
            <a:pPr marL="342900" indent="-342900">
              <a:lnSpc>
                <a:spcPct val="150000"/>
              </a:lnSpc>
              <a:spcBef>
                <a:spcPts val="1000"/>
              </a:spcBef>
              <a:buClr>
                <a:srgbClr val="178DBB"/>
              </a:buClr>
              <a:buFont typeface="Wingdings 3" charset="2"/>
              <a:buChar char=""/>
            </a:pPr>
            <a:r>
              <a:rPr lang="en-US" sz="2000" b="1" i="0" dirty="0">
                <a:effectLst/>
                <a:latin typeface="Tenorite" panose="00000500000000000000" pitchFamily="2" charset="0"/>
                <a:cs typeface="Calibri" panose="020F0502020204030204" pitchFamily="34" charset="0"/>
              </a:rPr>
              <a:t>Data</a:t>
            </a:r>
            <a:r>
              <a:rPr lang="en-US" sz="2000" b="0" i="0" dirty="0">
                <a:effectLst/>
                <a:latin typeface="Tenorite" panose="00000500000000000000" pitchFamily="2" charset="0"/>
                <a:cs typeface="Calibri" panose="020F0502020204030204" pitchFamily="34" charset="0"/>
              </a:rPr>
              <a:t> The data of this project can be downloaded from </a:t>
            </a:r>
            <a:r>
              <a:rPr lang="en-US" sz="2000" b="0" i="0" dirty="0">
                <a:effectLst/>
                <a:latin typeface="Tenorite" panose="00000500000000000000" pitchFamily="2" charset="0"/>
                <a:cs typeface="Calibri" panose="020F0502020204030204" pitchFamily="34" charset="0"/>
                <a:hlinkClick r:id="rId4">
                  <a:extLst>
                    <a:ext uri="{A12FA001-AC4F-418D-AE19-62706E023703}">
                      <ahyp:hlinkClr xmlns:ahyp="http://schemas.microsoft.com/office/drawing/2018/hyperlinkcolor" val="tx"/>
                    </a:ext>
                  </a:extLst>
                </a:hlinkClick>
              </a:rPr>
              <a:t>here</a:t>
            </a:r>
            <a:r>
              <a:rPr lang="en-US" sz="2000" b="0" i="0" dirty="0">
                <a:effectLst/>
                <a:latin typeface="Tenorite" panose="00000500000000000000" pitchFamily="2" charset="0"/>
                <a:cs typeface="Calibri" panose="020F0502020204030204" pitchFamily="34" charset="0"/>
              </a:rPr>
              <a:t>.</a:t>
            </a:r>
            <a:endParaRPr lang="en-US" sz="2000" dirty="0">
              <a:latin typeface="Tenorite" panose="00000500000000000000" pitchFamily="2" charset="0"/>
              <a:cs typeface="Calibri" panose="020F0502020204030204" pitchFamily="34" charset="0"/>
            </a:endParaRPr>
          </a:p>
        </p:txBody>
      </p:sp>
    </p:spTree>
    <p:extLst>
      <p:ext uri="{BB962C8B-B14F-4D97-AF65-F5344CB8AC3E}">
        <p14:creationId xmlns:p14="http://schemas.microsoft.com/office/powerpoint/2010/main" val="958216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BC2AE28-CC9B-4832-A19C-C49B8328E4B0}"/>
              </a:ext>
            </a:extLst>
          </p:cNvPr>
          <p:cNvSpPr txBox="1"/>
          <p:nvPr/>
        </p:nvSpPr>
        <p:spPr>
          <a:xfrm>
            <a:off x="260430" y="1238631"/>
            <a:ext cx="11671139" cy="5377545"/>
          </a:xfrm>
          <a:prstGeom prst="rect">
            <a:avLst/>
          </a:prstGeom>
        </p:spPr>
        <p:txBody>
          <a:bodyPr vert="horz" lIns="91440" tIns="45720" rIns="91440" bIns="45720" rtlCol="0">
            <a:noAutofit/>
          </a:bodyPr>
          <a:lstStyle/>
          <a:p>
            <a:pPr marL="342900" indent="-342900" algn="l">
              <a:lnSpc>
                <a:spcPct val="150000"/>
              </a:lnSpc>
              <a:buClr>
                <a:srgbClr val="178DBB"/>
              </a:buClr>
              <a:buFont typeface="Wingdings" panose="05000000000000000000" pitchFamily="2" charset="2"/>
              <a:buChar char="Ø"/>
            </a:pPr>
            <a:r>
              <a:rPr lang="en-US" sz="1500" b="1" i="1" dirty="0">
                <a:effectLst/>
                <a:latin typeface="Tenorite" panose="00000500000000000000" pitchFamily="2" charset="0"/>
                <a:cs typeface="Calibri" panose="020F0502020204030204" pitchFamily="34" charset="0"/>
              </a:rPr>
              <a:t>step</a:t>
            </a:r>
            <a:r>
              <a:rPr lang="en-US" sz="1500" b="0" i="0" dirty="0">
                <a:effectLst/>
                <a:latin typeface="Tenorite" panose="00000500000000000000" pitchFamily="2" charset="0"/>
                <a:cs typeface="Calibri" panose="020F0502020204030204" pitchFamily="34" charset="0"/>
              </a:rPr>
              <a:t> - maps a unit of time in the real world. In this case 1 step is 1 hour of time. Total steps 744 (30 days simulation).</a:t>
            </a:r>
          </a:p>
          <a:p>
            <a:pPr marL="342900" indent="-342900" algn="l">
              <a:lnSpc>
                <a:spcPct val="150000"/>
              </a:lnSpc>
              <a:buClr>
                <a:srgbClr val="178DBB"/>
              </a:buClr>
              <a:buFont typeface="Wingdings" panose="05000000000000000000" pitchFamily="2" charset="2"/>
              <a:buChar char="Ø"/>
            </a:pPr>
            <a:r>
              <a:rPr lang="en-US" sz="1500" b="1" i="1" dirty="0">
                <a:effectLst/>
                <a:latin typeface="Tenorite" panose="00000500000000000000" pitchFamily="2" charset="0"/>
                <a:cs typeface="Calibri" panose="020F0502020204030204" pitchFamily="34" charset="0"/>
              </a:rPr>
              <a:t>type</a:t>
            </a:r>
            <a:r>
              <a:rPr lang="en-US" sz="1500" b="0" i="0" dirty="0">
                <a:effectLst/>
                <a:latin typeface="Tenorite" panose="00000500000000000000" pitchFamily="2" charset="0"/>
                <a:cs typeface="Calibri" panose="020F0502020204030204" pitchFamily="34" charset="0"/>
              </a:rPr>
              <a:t> - CASH-IN, CASH-OUT, DEBIT, PAYMENT and TRANSFER.</a:t>
            </a:r>
          </a:p>
          <a:p>
            <a:pPr marL="342900" indent="-342900" algn="l">
              <a:lnSpc>
                <a:spcPct val="150000"/>
              </a:lnSpc>
              <a:buClr>
                <a:srgbClr val="178DBB"/>
              </a:buClr>
              <a:buFont typeface="Wingdings" panose="05000000000000000000" pitchFamily="2" charset="2"/>
              <a:buChar char="Ø"/>
            </a:pPr>
            <a:r>
              <a:rPr lang="en-US" sz="1500" b="1" i="1" dirty="0">
                <a:effectLst/>
                <a:latin typeface="Tenorite" panose="00000500000000000000" pitchFamily="2" charset="0"/>
                <a:cs typeface="Calibri" panose="020F0502020204030204" pitchFamily="34" charset="0"/>
              </a:rPr>
              <a:t>amount</a:t>
            </a:r>
            <a:r>
              <a:rPr lang="en-US" sz="1500" b="0" i="0" dirty="0">
                <a:effectLst/>
                <a:latin typeface="Tenorite" panose="00000500000000000000" pitchFamily="2" charset="0"/>
                <a:cs typeface="Calibri" panose="020F0502020204030204" pitchFamily="34" charset="0"/>
              </a:rPr>
              <a:t> - amount of the transaction in local currency.</a:t>
            </a:r>
          </a:p>
          <a:p>
            <a:pPr marL="342900" indent="-342900" algn="l">
              <a:lnSpc>
                <a:spcPct val="150000"/>
              </a:lnSpc>
              <a:buClr>
                <a:srgbClr val="178DBB"/>
              </a:buClr>
              <a:buFont typeface="Wingdings" panose="05000000000000000000" pitchFamily="2" charset="2"/>
              <a:buChar char="Ø"/>
            </a:pPr>
            <a:r>
              <a:rPr lang="en-US" sz="1500" b="1" i="1" dirty="0" err="1">
                <a:effectLst/>
                <a:latin typeface="Tenorite" panose="00000500000000000000" pitchFamily="2" charset="0"/>
                <a:cs typeface="Calibri" panose="020F0502020204030204" pitchFamily="34" charset="0"/>
              </a:rPr>
              <a:t>nameOrig</a:t>
            </a:r>
            <a:r>
              <a:rPr lang="en-US" sz="1500" b="0" i="0" dirty="0">
                <a:effectLst/>
                <a:latin typeface="Tenorite" panose="00000500000000000000" pitchFamily="2" charset="0"/>
                <a:cs typeface="Calibri" panose="020F0502020204030204" pitchFamily="34" charset="0"/>
              </a:rPr>
              <a:t> - customer who started the transaction</a:t>
            </a:r>
          </a:p>
          <a:p>
            <a:pPr marL="342900" indent="-342900" algn="l">
              <a:lnSpc>
                <a:spcPct val="150000"/>
              </a:lnSpc>
              <a:buClr>
                <a:srgbClr val="178DBB"/>
              </a:buClr>
              <a:buFont typeface="Wingdings" panose="05000000000000000000" pitchFamily="2" charset="2"/>
              <a:buChar char="Ø"/>
            </a:pPr>
            <a:r>
              <a:rPr lang="en-US" sz="1500" b="1" i="1" dirty="0" err="1">
                <a:effectLst/>
                <a:latin typeface="Tenorite" panose="00000500000000000000" pitchFamily="2" charset="0"/>
                <a:cs typeface="Calibri" panose="020F0502020204030204" pitchFamily="34" charset="0"/>
              </a:rPr>
              <a:t>oldbalanceOrg</a:t>
            </a:r>
            <a:r>
              <a:rPr lang="en-US" sz="1500" b="0" i="0" dirty="0">
                <a:effectLst/>
                <a:latin typeface="Tenorite" panose="00000500000000000000" pitchFamily="2" charset="0"/>
                <a:cs typeface="Calibri" panose="020F0502020204030204" pitchFamily="34" charset="0"/>
              </a:rPr>
              <a:t> - initial balance before the transaction</a:t>
            </a:r>
          </a:p>
          <a:p>
            <a:pPr marL="342900" indent="-342900" algn="l">
              <a:lnSpc>
                <a:spcPct val="150000"/>
              </a:lnSpc>
              <a:buClr>
                <a:srgbClr val="178DBB"/>
              </a:buClr>
              <a:buFont typeface="Wingdings" panose="05000000000000000000" pitchFamily="2" charset="2"/>
              <a:buChar char="Ø"/>
            </a:pPr>
            <a:r>
              <a:rPr lang="en-US" sz="1500" b="1" i="1" dirty="0" err="1">
                <a:effectLst/>
                <a:latin typeface="Tenorite" panose="00000500000000000000" pitchFamily="2" charset="0"/>
                <a:cs typeface="Calibri" panose="020F0502020204030204" pitchFamily="34" charset="0"/>
              </a:rPr>
              <a:t>newbalanceOrig</a:t>
            </a:r>
            <a:r>
              <a:rPr lang="en-US" sz="1500" b="0" i="0" dirty="0">
                <a:effectLst/>
                <a:latin typeface="Tenorite" panose="00000500000000000000" pitchFamily="2" charset="0"/>
                <a:cs typeface="Calibri" panose="020F0502020204030204" pitchFamily="34" charset="0"/>
              </a:rPr>
              <a:t> - new balance after the transaction</a:t>
            </a:r>
          </a:p>
          <a:p>
            <a:pPr marL="342900" indent="-342900" algn="l">
              <a:lnSpc>
                <a:spcPct val="150000"/>
              </a:lnSpc>
              <a:buClr>
                <a:srgbClr val="178DBB"/>
              </a:buClr>
              <a:buFont typeface="Wingdings" panose="05000000000000000000" pitchFamily="2" charset="2"/>
              <a:buChar char="Ø"/>
            </a:pPr>
            <a:r>
              <a:rPr lang="en-US" sz="1500" b="1" i="1" dirty="0" err="1">
                <a:effectLst/>
                <a:latin typeface="Tenorite" panose="00000500000000000000" pitchFamily="2" charset="0"/>
                <a:cs typeface="Calibri" panose="020F0502020204030204" pitchFamily="34" charset="0"/>
              </a:rPr>
              <a:t>nameDest</a:t>
            </a:r>
            <a:r>
              <a:rPr lang="en-US" sz="1500" b="0" i="0" dirty="0">
                <a:effectLst/>
                <a:latin typeface="Tenorite" panose="00000500000000000000" pitchFamily="2" charset="0"/>
                <a:cs typeface="Calibri" panose="020F0502020204030204" pitchFamily="34" charset="0"/>
              </a:rPr>
              <a:t> - customer who is the recipient of the transaction</a:t>
            </a:r>
          </a:p>
          <a:p>
            <a:pPr marL="342900" indent="-342900" algn="l">
              <a:lnSpc>
                <a:spcPct val="150000"/>
              </a:lnSpc>
              <a:buClr>
                <a:srgbClr val="178DBB"/>
              </a:buClr>
              <a:buFont typeface="Wingdings" panose="05000000000000000000" pitchFamily="2" charset="2"/>
              <a:buChar char="Ø"/>
            </a:pPr>
            <a:r>
              <a:rPr lang="en-US" sz="1500" b="1" i="1" dirty="0" err="1">
                <a:effectLst/>
                <a:latin typeface="Tenorite" panose="00000500000000000000" pitchFamily="2" charset="0"/>
                <a:cs typeface="Calibri" panose="020F0502020204030204" pitchFamily="34" charset="0"/>
              </a:rPr>
              <a:t>oldbalanceDest</a:t>
            </a:r>
            <a:r>
              <a:rPr lang="en-US" sz="1500" b="0" i="0" dirty="0">
                <a:effectLst/>
                <a:latin typeface="Tenorite" panose="00000500000000000000" pitchFamily="2" charset="0"/>
                <a:cs typeface="Calibri" panose="020F0502020204030204" pitchFamily="34" charset="0"/>
              </a:rPr>
              <a:t> - initial balance recipient before the transaction. Note that there is not information for customers that start with M (Merchants).</a:t>
            </a:r>
          </a:p>
          <a:p>
            <a:pPr marL="342900" indent="-342900" algn="l">
              <a:lnSpc>
                <a:spcPct val="150000"/>
              </a:lnSpc>
              <a:buClr>
                <a:srgbClr val="178DBB"/>
              </a:buClr>
              <a:buFont typeface="Wingdings" panose="05000000000000000000" pitchFamily="2" charset="2"/>
              <a:buChar char="Ø"/>
            </a:pPr>
            <a:r>
              <a:rPr lang="en-US" sz="1500" b="1" i="1" dirty="0" err="1">
                <a:effectLst/>
                <a:latin typeface="Tenorite" panose="00000500000000000000" pitchFamily="2" charset="0"/>
                <a:cs typeface="Calibri" panose="020F0502020204030204" pitchFamily="34" charset="0"/>
              </a:rPr>
              <a:t>newbalanceDest</a:t>
            </a:r>
            <a:r>
              <a:rPr lang="en-US" sz="1500" b="0" i="0" dirty="0">
                <a:effectLst/>
                <a:latin typeface="Tenorite" panose="00000500000000000000" pitchFamily="2" charset="0"/>
                <a:cs typeface="Calibri" panose="020F0502020204030204" pitchFamily="34" charset="0"/>
              </a:rPr>
              <a:t> - new balance recipient after the transaction. Note that there is not information for customers that start with M (Merchants).</a:t>
            </a:r>
          </a:p>
          <a:p>
            <a:pPr marL="342900" indent="-342900" algn="l">
              <a:lnSpc>
                <a:spcPct val="150000"/>
              </a:lnSpc>
              <a:buClr>
                <a:srgbClr val="178DBB"/>
              </a:buClr>
              <a:buFont typeface="Wingdings" panose="05000000000000000000" pitchFamily="2" charset="2"/>
              <a:buChar char="Ø"/>
            </a:pPr>
            <a:r>
              <a:rPr lang="en-US" sz="1500" b="1" i="1" dirty="0">
                <a:effectLst/>
                <a:latin typeface="Tenorite" panose="00000500000000000000" pitchFamily="2" charset="0"/>
                <a:cs typeface="Calibri" panose="020F0502020204030204" pitchFamily="34" charset="0"/>
              </a:rPr>
              <a:t>isFraud</a:t>
            </a:r>
            <a:r>
              <a:rPr lang="en-US" sz="1500" b="0" i="0" dirty="0">
                <a:effectLst/>
                <a:latin typeface="Tenorite" panose="00000500000000000000" pitchFamily="2" charset="0"/>
                <a:cs typeface="Calibri" panose="020F0502020204030204" pitchFamily="34" charset="0"/>
              </a:rPr>
              <a:t> - This is the transactions made by the fraudulent agents inside the simulation. In this specific dataset the fraudulent behavior of the agents aims to profit by taking control or customers accounts and try to empty the funds by transferring to another account and then cashing out of the system.</a:t>
            </a:r>
          </a:p>
          <a:p>
            <a:pPr marL="342900" indent="-342900" algn="l">
              <a:lnSpc>
                <a:spcPct val="150000"/>
              </a:lnSpc>
              <a:buClr>
                <a:srgbClr val="178DBB"/>
              </a:buClr>
              <a:buFont typeface="Wingdings" panose="05000000000000000000" pitchFamily="2" charset="2"/>
              <a:buChar char="Ø"/>
            </a:pPr>
            <a:r>
              <a:rPr lang="en-US" sz="1500" b="1" i="1" dirty="0" err="1">
                <a:effectLst/>
                <a:latin typeface="Tenorite" panose="00000500000000000000" pitchFamily="2" charset="0"/>
                <a:cs typeface="Calibri" panose="020F0502020204030204" pitchFamily="34" charset="0"/>
              </a:rPr>
              <a:t>isFlaggedFraud</a:t>
            </a:r>
            <a:r>
              <a:rPr lang="en-US" sz="1500" b="0" i="0" dirty="0">
                <a:effectLst/>
                <a:latin typeface="Tenorite" panose="00000500000000000000" pitchFamily="2" charset="0"/>
                <a:cs typeface="Calibri" panose="020F0502020204030204" pitchFamily="34" charset="0"/>
              </a:rPr>
              <a:t> - The business model aims to control massive transfers from one account to another and flags illegal attempts. An illegal attempt in this dataset is an attempt to transfer more than 200,000 in a single transaction.</a:t>
            </a:r>
            <a:endParaRPr lang="en-US" sz="1500" dirty="0">
              <a:latin typeface="Tenorite" panose="00000500000000000000" pitchFamily="2" charset="0"/>
              <a:cs typeface="Calibri" panose="020F0502020204030204" pitchFamily="34" charset="0"/>
            </a:endParaRPr>
          </a:p>
        </p:txBody>
      </p:sp>
      <p:sp>
        <p:nvSpPr>
          <p:cNvPr id="4" name="Title 10">
            <a:extLst>
              <a:ext uri="{FF2B5EF4-FFF2-40B4-BE49-F238E27FC236}">
                <a16:creationId xmlns:a16="http://schemas.microsoft.com/office/drawing/2014/main" id="{F96332A3-CE82-41C5-8538-61D338AA5AB6}"/>
              </a:ext>
            </a:extLst>
          </p:cNvPr>
          <p:cNvSpPr txBox="1">
            <a:spLocks/>
          </p:cNvSpPr>
          <p:nvPr/>
        </p:nvSpPr>
        <p:spPr>
          <a:xfrm>
            <a:off x="1889587" y="624110"/>
            <a:ext cx="8412826" cy="730128"/>
          </a:xfrm>
          <a:prstGeom prst="rect">
            <a:avLst/>
          </a:prstGeom>
        </p:spPr>
        <p:txBody>
          <a:bodyPr vert="horz" lIns="91440" tIns="45720" rIns="91440" bIns="45720" rtlCol="0">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dirty="0">
                <a:solidFill>
                  <a:srgbClr val="178DBB"/>
                </a:solidFill>
                <a:latin typeface="Tenorite Display" panose="00000500000000000000" pitchFamily="2" charset="0"/>
              </a:rPr>
              <a:t>COLUMN’s EXPLAINATION</a:t>
            </a:r>
            <a:endParaRPr lang="en-US" sz="4400" dirty="0">
              <a:solidFill>
                <a:srgbClr val="178DBB"/>
              </a:solidFill>
              <a:latin typeface="Tenorite Display" panose="00000500000000000000" pitchFamily="2" charset="0"/>
            </a:endParaRPr>
          </a:p>
        </p:txBody>
      </p:sp>
    </p:spTree>
    <p:extLst>
      <p:ext uri="{BB962C8B-B14F-4D97-AF65-F5344CB8AC3E}">
        <p14:creationId xmlns:p14="http://schemas.microsoft.com/office/powerpoint/2010/main" val="369793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8BB36DC2-7817-4B86-894F-73A1F3D2002C}"/>
              </a:ext>
            </a:extLst>
          </p:cNvPr>
          <p:cNvSpPr txBox="1">
            <a:spLocks/>
          </p:cNvSpPr>
          <p:nvPr/>
        </p:nvSpPr>
        <p:spPr>
          <a:xfrm>
            <a:off x="1889587" y="624110"/>
            <a:ext cx="8412826" cy="730128"/>
          </a:xfrm>
          <a:prstGeom prst="rect">
            <a:avLst/>
          </a:prstGeom>
        </p:spPr>
        <p:txBody>
          <a:bodyPr vert="horz" lIns="91440" tIns="45720" rIns="91440" bIns="45720" rtlCol="0">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dirty="0">
                <a:solidFill>
                  <a:srgbClr val="178DBB"/>
                </a:solidFill>
                <a:latin typeface="Tenorite Display" panose="00000500000000000000" pitchFamily="2" charset="0"/>
              </a:rPr>
              <a:t>WORKFLOW</a:t>
            </a:r>
            <a:endParaRPr lang="en-US" sz="4400" dirty="0">
              <a:solidFill>
                <a:srgbClr val="178DBB"/>
              </a:solidFill>
              <a:latin typeface="Tenorite Display" panose="00000500000000000000" pitchFamily="2" charset="0"/>
            </a:endParaRPr>
          </a:p>
        </p:txBody>
      </p:sp>
      <p:sp>
        <p:nvSpPr>
          <p:cNvPr id="6" name="TextBox 5">
            <a:extLst>
              <a:ext uri="{FF2B5EF4-FFF2-40B4-BE49-F238E27FC236}">
                <a16:creationId xmlns:a16="http://schemas.microsoft.com/office/drawing/2014/main" id="{8BC2AE28-CC9B-4832-A19C-C49B8328E4B0}"/>
              </a:ext>
            </a:extLst>
          </p:cNvPr>
          <p:cNvSpPr txBox="1"/>
          <p:nvPr/>
        </p:nvSpPr>
        <p:spPr>
          <a:xfrm>
            <a:off x="2078027" y="1813138"/>
            <a:ext cx="8035946" cy="4466701"/>
          </a:xfrm>
          <a:prstGeom prst="rect">
            <a:avLst/>
          </a:prstGeom>
        </p:spPr>
        <p:txBody>
          <a:bodyPr vert="horz" lIns="91440" tIns="45720" rIns="91440" bIns="45720" rtlCol="0">
            <a:noAutofit/>
          </a:bodyPr>
          <a:lstStyle/>
          <a:p>
            <a:pPr marL="342900" indent="-342900">
              <a:lnSpc>
                <a:spcPct val="150000"/>
              </a:lnSpc>
              <a:buClr>
                <a:srgbClr val="178DBB"/>
              </a:buClr>
              <a:buFont typeface="Wingdings" panose="05000000000000000000" pitchFamily="2" charset="2"/>
              <a:buChar char="Ø"/>
            </a:pPr>
            <a:r>
              <a:rPr lang="en-US" sz="2000" dirty="0">
                <a:effectLst/>
                <a:latin typeface="Tenorite" panose="00000500000000000000" pitchFamily="2" charset="0"/>
                <a:cs typeface="Calibri" panose="020F0502020204030204" pitchFamily="34" charset="0"/>
              </a:rPr>
              <a:t>We’ll continue this project in </a:t>
            </a:r>
            <a:r>
              <a:rPr lang="en-US" sz="2000" b="1" dirty="0">
                <a:effectLst/>
                <a:latin typeface="Tenorite" panose="00000500000000000000" pitchFamily="2" charset="0"/>
                <a:cs typeface="Calibri" panose="020F0502020204030204" pitchFamily="34" charset="0"/>
              </a:rPr>
              <a:t>GOOGLE COLAB</a:t>
            </a:r>
            <a:r>
              <a:rPr lang="en-US" sz="2000" dirty="0">
                <a:effectLst/>
                <a:latin typeface="Tenorite" panose="00000500000000000000" pitchFamily="2" charset="0"/>
                <a:cs typeface="Calibri" panose="020F0502020204030204" pitchFamily="34" charset="0"/>
              </a:rPr>
              <a:t> as it is </a:t>
            </a:r>
            <a:r>
              <a:rPr lang="en-US" sz="2000" dirty="0">
                <a:solidFill>
                  <a:srgbClr val="111111"/>
                </a:solidFill>
                <a:effectLst/>
                <a:latin typeface="Tenorite" panose="00000500000000000000" pitchFamily="2" charset="0"/>
                <a:cs typeface="Calibri" panose="020F0502020204030204" pitchFamily="34" charset="0"/>
              </a:rPr>
              <a:t>a free Jupyter</a:t>
            </a:r>
          </a:p>
          <a:p>
            <a:pPr marL="342900" indent="-342900">
              <a:lnSpc>
                <a:spcPct val="150000"/>
              </a:lnSpc>
              <a:buClr>
                <a:srgbClr val="178DBB"/>
              </a:buClr>
              <a:buFont typeface="Wingdings" panose="05000000000000000000" pitchFamily="2" charset="2"/>
              <a:buChar char="Ø"/>
            </a:pPr>
            <a:r>
              <a:rPr lang="en-US" sz="2000" dirty="0">
                <a:solidFill>
                  <a:srgbClr val="111111"/>
                </a:solidFill>
                <a:effectLst/>
                <a:latin typeface="Tenorite" panose="00000500000000000000" pitchFamily="2" charset="0"/>
                <a:cs typeface="Calibri" panose="020F0502020204030204" pitchFamily="34" charset="0"/>
              </a:rPr>
              <a:t>.</a:t>
            </a:r>
          </a:p>
          <a:p>
            <a:pPr marL="342900" indent="-342900" algn="l">
              <a:lnSpc>
                <a:spcPct val="150000"/>
              </a:lnSpc>
              <a:buClr>
                <a:srgbClr val="178DBB"/>
              </a:buClr>
              <a:buFont typeface="Wingdings" panose="05000000000000000000" pitchFamily="2" charset="2"/>
              <a:buChar char="Ø"/>
            </a:pPr>
            <a:r>
              <a:rPr lang="en-US" sz="2000" dirty="0">
                <a:latin typeface="Tenorite" panose="00000500000000000000" pitchFamily="2" charset="0"/>
                <a:cs typeface="Calibri" panose="020F0502020204030204" pitchFamily="34" charset="0"/>
              </a:rPr>
              <a:t>For better readability I’ve divided the notebook into 5 different sections namely:</a:t>
            </a:r>
          </a:p>
          <a:p>
            <a:pPr marL="800100" lvl="1" indent="-342900">
              <a:lnSpc>
                <a:spcPct val="150000"/>
              </a:lnSpc>
              <a:buClr>
                <a:srgbClr val="178DBB"/>
              </a:buClr>
              <a:buFont typeface="Wingdings" panose="05000000000000000000" pitchFamily="2" charset="2"/>
              <a:buChar char="Ø"/>
            </a:pPr>
            <a:r>
              <a:rPr lang="en-US" sz="2000" dirty="0">
                <a:latin typeface="Tenorite" panose="00000500000000000000" pitchFamily="2" charset="0"/>
                <a:cs typeface="Calibri" panose="020F0502020204030204" pitchFamily="34" charset="0"/>
              </a:rPr>
              <a:t>Part 1: Creating the Environment</a:t>
            </a:r>
          </a:p>
          <a:p>
            <a:pPr marL="800100" lvl="1" indent="-342900">
              <a:lnSpc>
                <a:spcPct val="150000"/>
              </a:lnSpc>
              <a:buClr>
                <a:srgbClr val="178DBB"/>
              </a:buClr>
              <a:buFont typeface="Wingdings" panose="05000000000000000000" pitchFamily="2" charset="2"/>
              <a:buChar char="Ø"/>
            </a:pPr>
            <a:r>
              <a:rPr lang="en-US" sz="2000" dirty="0">
                <a:latin typeface="Tenorite" panose="00000500000000000000" pitchFamily="2" charset="0"/>
                <a:cs typeface="Calibri" panose="020F0502020204030204" pitchFamily="34" charset="0"/>
              </a:rPr>
              <a:t>Part 2: Data Cleaning</a:t>
            </a:r>
          </a:p>
          <a:p>
            <a:pPr marL="800100" lvl="1" indent="-342900">
              <a:lnSpc>
                <a:spcPct val="150000"/>
              </a:lnSpc>
              <a:buClr>
                <a:srgbClr val="178DBB"/>
              </a:buClr>
              <a:buFont typeface="Wingdings" panose="05000000000000000000" pitchFamily="2" charset="2"/>
              <a:buChar char="Ø"/>
            </a:pPr>
            <a:r>
              <a:rPr lang="en-US" sz="2000" dirty="0">
                <a:latin typeface="Tenorite" panose="00000500000000000000" pitchFamily="2" charset="0"/>
                <a:cs typeface="Calibri" panose="020F0502020204030204" pitchFamily="34" charset="0"/>
              </a:rPr>
              <a:t>Part 3: Exploring the dataset</a:t>
            </a:r>
          </a:p>
          <a:p>
            <a:pPr marL="800100" lvl="1" indent="-342900">
              <a:lnSpc>
                <a:spcPct val="150000"/>
              </a:lnSpc>
              <a:buClr>
                <a:srgbClr val="178DBB"/>
              </a:buClr>
              <a:buFont typeface="Wingdings" panose="05000000000000000000" pitchFamily="2" charset="2"/>
              <a:buChar char="Ø"/>
            </a:pPr>
            <a:r>
              <a:rPr lang="en-US" sz="2000" dirty="0">
                <a:latin typeface="Tenorite" panose="00000500000000000000" pitchFamily="2" charset="0"/>
                <a:cs typeface="Calibri" panose="020F0502020204030204" pitchFamily="34" charset="0"/>
              </a:rPr>
              <a:t>Part 4: Constructing different machine learning models.</a:t>
            </a:r>
          </a:p>
          <a:p>
            <a:pPr marL="800100" lvl="1" indent="-342900">
              <a:lnSpc>
                <a:spcPct val="150000"/>
              </a:lnSpc>
              <a:buClr>
                <a:srgbClr val="178DBB"/>
              </a:buClr>
              <a:buFont typeface="Wingdings" panose="05000000000000000000" pitchFamily="2" charset="2"/>
              <a:buChar char="Ø"/>
            </a:pPr>
            <a:r>
              <a:rPr lang="en-US" sz="2000" dirty="0">
                <a:latin typeface="Tenorite" panose="00000500000000000000" pitchFamily="2" charset="0"/>
                <a:cs typeface="Calibri" panose="020F0502020204030204" pitchFamily="34" charset="0"/>
              </a:rPr>
              <a:t>Part 5: Conclusion</a:t>
            </a:r>
          </a:p>
        </p:txBody>
      </p:sp>
    </p:spTree>
    <p:extLst>
      <p:ext uri="{BB962C8B-B14F-4D97-AF65-F5344CB8AC3E}">
        <p14:creationId xmlns:p14="http://schemas.microsoft.com/office/powerpoint/2010/main" val="33091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2D36276-22B0-4FBD-AEC1-ACD46269BAEE}"/>
              </a:ext>
            </a:extLst>
          </p:cNvPr>
          <p:cNvSpPr txBox="1">
            <a:spLocks/>
          </p:cNvSpPr>
          <p:nvPr/>
        </p:nvSpPr>
        <p:spPr>
          <a:xfrm>
            <a:off x="1477702" y="618589"/>
            <a:ext cx="9236596" cy="88431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PART 1: CREATING THE ENVIRONMENT</a:t>
            </a:r>
          </a:p>
        </p:txBody>
      </p:sp>
      <p:pic>
        <p:nvPicPr>
          <p:cNvPr id="49" name="Picture 48">
            <a:extLst>
              <a:ext uri="{FF2B5EF4-FFF2-40B4-BE49-F238E27FC236}">
                <a16:creationId xmlns:a16="http://schemas.microsoft.com/office/drawing/2014/main" id="{91F017FD-D668-43F2-BBC9-BCFFB80F3F28}"/>
              </a:ext>
            </a:extLst>
          </p:cNvPr>
          <p:cNvPicPr>
            <a:picLocks noChangeAspect="1"/>
          </p:cNvPicPr>
          <p:nvPr/>
        </p:nvPicPr>
        <p:blipFill rotWithShape="1">
          <a:blip r:embed="rId2"/>
          <a:srcRect l="4547" t="37846" r="27620" b="22548"/>
          <a:stretch/>
        </p:blipFill>
        <p:spPr>
          <a:xfrm>
            <a:off x="2872613" y="4212027"/>
            <a:ext cx="6446774" cy="20523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1" name="TextBox 50">
            <a:extLst>
              <a:ext uri="{FF2B5EF4-FFF2-40B4-BE49-F238E27FC236}">
                <a16:creationId xmlns:a16="http://schemas.microsoft.com/office/drawing/2014/main" id="{5FE88D4B-A861-4C2A-B78E-CB13F49D52BF}"/>
              </a:ext>
            </a:extLst>
          </p:cNvPr>
          <p:cNvSpPr txBox="1"/>
          <p:nvPr/>
        </p:nvSpPr>
        <p:spPr>
          <a:xfrm>
            <a:off x="1477702" y="1651579"/>
            <a:ext cx="9236596" cy="2459877"/>
          </a:xfrm>
          <a:prstGeom prst="rect">
            <a:avLst/>
          </a:prstGeom>
        </p:spPr>
        <p:txBody>
          <a:bodyPr vert="horz" lIns="91440" tIns="45720" rIns="91440" bIns="45720" rtlCol="0">
            <a:normAutofit fontScale="92500"/>
          </a:bodyPr>
          <a:lstStyle/>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For this project we’ll need to install JAVA and we are using version 11 of Java</a:t>
            </a:r>
          </a:p>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For the spark version we’ll be using the latest version of spark that is 3.2.1 </a:t>
            </a:r>
          </a:p>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Next, we will install PySpark package in COLAB</a:t>
            </a:r>
          </a:p>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After these steps we’ll need to assign JAVA and SPARK in the machine environment</a:t>
            </a:r>
          </a:p>
        </p:txBody>
      </p:sp>
    </p:spTree>
    <p:extLst>
      <p:ext uri="{BB962C8B-B14F-4D97-AF65-F5344CB8AC3E}">
        <p14:creationId xmlns:p14="http://schemas.microsoft.com/office/powerpoint/2010/main" val="368201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CDF485-42F2-447D-97B8-DED49BBF89AC}"/>
              </a:ext>
            </a:extLst>
          </p:cNvPr>
          <p:cNvSpPr txBox="1">
            <a:spLocks/>
          </p:cNvSpPr>
          <p:nvPr/>
        </p:nvSpPr>
        <p:spPr>
          <a:xfrm>
            <a:off x="1199908" y="597367"/>
            <a:ext cx="9792183" cy="100006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PART 1: CREATING THE ENVIRONMENT…</a:t>
            </a:r>
          </a:p>
        </p:txBody>
      </p:sp>
      <p:pic>
        <p:nvPicPr>
          <p:cNvPr id="10" name="Picture 9">
            <a:extLst>
              <a:ext uri="{FF2B5EF4-FFF2-40B4-BE49-F238E27FC236}">
                <a16:creationId xmlns:a16="http://schemas.microsoft.com/office/drawing/2014/main" id="{51778E4D-77B8-4E4F-BA06-E3643609BD8F}"/>
              </a:ext>
            </a:extLst>
          </p:cNvPr>
          <p:cNvPicPr>
            <a:picLocks noChangeAspect="1"/>
          </p:cNvPicPr>
          <p:nvPr/>
        </p:nvPicPr>
        <p:blipFill rotWithShape="1">
          <a:blip r:embed="rId2"/>
          <a:srcRect l="3940" t="20922" r="33191" b="5037"/>
          <a:stretch/>
        </p:blipFill>
        <p:spPr>
          <a:xfrm>
            <a:off x="6414894" y="2044460"/>
            <a:ext cx="5634352" cy="3732517"/>
          </a:xfrm>
          <a:prstGeom prst="rect">
            <a:avLst/>
          </a:prstGeom>
        </p:spPr>
      </p:pic>
      <p:sp>
        <p:nvSpPr>
          <p:cNvPr id="11" name="TextBox 10">
            <a:extLst>
              <a:ext uri="{FF2B5EF4-FFF2-40B4-BE49-F238E27FC236}">
                <a16:creationId xmlns:a16="http://schemas.microsoft.com/office/drawing/2014/main" id="{0EDC5A8C-4C6C-4491-8236-524BCE5993A8}"/>
              </a:ext>
            </a:extLst>
          </p:cNvPr>
          <p:cNvSpPr txBox="1"/>
          <p:nvPr/>
        </p:nvSpPr>
        <p:spPr>
          <a:xfrm>
            <a:off x="1018794" y="1942543"/>
            <a:ext cx="5396100" cy="4633734"/>
          </a:xfrm>
          <a:prstGeom prst="rect">
            <a:avLst/>
          </a:prstGeom>
        </p:spPr>
        <p:txBody>
          <a:bodyPr vert="horz" lIns="91440" tIns="45720" rIns="91440" bIns="45720" rtlCol="0">
            <a:normAutofit/>
          </a:bodyPr>
          <a:lstStyle/>
          <a:p>
            <a:pPr marL="285750" indent="-285750">
              <a:lnSpc>
                <a:spcPct val="17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Here we first check what's the schema of our dataset.</a:t>
            </a:r>
          </a:p>
          <a:p>
            <a:pPr>
              <a:lnSpc>
                <a:spcPct val="170000"/>
              </a:lnSpc>
              <a:spcBef>
                <a:spcPts val="1000"/>
              </a:spcBef>
              <a:buClr>
                <a:srgbClr val="178DBB"/>
              </a:buClr>
            </a:pPr>
            <a:endParaRPr lang="en-US" sz="2000" dirty="0">
              <a:solidFill>
                <a:schemeClr val="tx1">
                  <a:lumMod val="75000"/>
                  <a:lumOff val="25000"/>
                </a:schemeClr>
              </a:solidFill>
              <a:latin typeface="Tenorite" panose="00000500000000000000" pitchFamily="2" charset="0"/>
              <a:cs typeface="Calibri" panose="020F0502020204030204" pitchFamily="34" charset="0"/>
            </a:endParaRPr>
          </a:p>
          <a:p>
            <a:pPr marL="285750" indent="-285750">
              <a:lnSpc>
                <a:spcPct val="17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And we found that some of the columns were having wrong datatypes. So, we must change them into appropriate by providing a Schema of our own.</a:t>
            </a:r>
          </a:p>
        </p:txBody>
      </p:sp>
    </p:spTree>
    <p:extLst>
      <p:ext uri="{BB962C8B-B14F-4D97-AF65-F5344CB8AC3E}">
        <p14:creationId xmlns:p14="http://schemas.microsoft.com/office/powerpoint/2010/main" val="2033349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2D36276-22B0-4FBD-AEC1-ACD46269BAEE}"/>
              </a:ext>
            </a:extLst>
          </p:cNvPr>
          <p:cNvSpPr txBox="1">
            <a:spLocks/>
          </p:cNvSpPr>
          <p:nvPr/>
        </p:nvSpPr>
        <p:spPr>
          <a:xfrm>
            <a:off x="1682671" y="586787"/>
            <a:ext cx="8826659" cy="636223"/>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dirty="0">
                <a:solidFill>
                  <a:srgbClr val="178DBB"/>
                </a:solidFill>
                <a:latin typeface="Tenorite Display" panose="00000500000000000000" pitchFamily="2" charset="0"/>
              </a:rPr>
              <a:t>PART 2: DATA CLEANING</a:t>
            </a:r>
          </a:p>
        </p:txBody>
      </p:sp>
      <p:pic>
        <p:nvPicPr>
          <p:cNvPr id="3" name="Picture 2">
            <a:extLst>
              <a:ext uri="{FF2B5EF4-FFF2-40B4-BE49-F238E27FC236}">
                <a16:creationId xmlns:a16="http://schemas.microsoft.com/office/drawing/2014/main" id="{B1AB4710-7F3E-48B6-B4EF-2D2BED4BD792}"/>
              </a:ext>
            </a:extLst>
          </p:cNvPr>
          <p:cNvPicPr>
            <a:picLocks noChangeAspect="1"/>
          </p:cNvPicPr>
          <p:nvPr/>
        </p:nvPicPr>
        <p:blipFill rotWithShape="1">
          <a:blip r:embed="rId2"/>
          <a:srcRect l="3714" t="27549" r="71337" b="51747"/>
          <a:stretch/>
        </p:blipFill>
        <p:spPr>
          <a:xfrm>
            <a:off x="7086600" y="1796414"/>
            <a:ext cx="4287900" cy="2001520"/>
          </a:xfrm>
          <a:prstGeom prst="rect">
            <a:avLst/>
          </a:prstGeom>
        </p:spPr>
      </p:pic>
      <p:sp>
        <p:nvSpPr>
          <p:cNvPr id="7" name="TextBox 6">
            <a:extLst>
              <a:ext uri="{FF2B5EF4-FFF2-40B4-BE49-F238E27FC236}">
                <a16:creationId xmlns:a16="http://schemas.microsoft.com/office/drawing/2014/main" id="{E7AB9B7B-3318-49D5-B1C3-2C3E45956BF4}"/>
              </a:ext>
            </a:extLst>
          </p:cNvPr>
          <p:cNvSpPr txBox="1"/>
          <p:nvPr/>
        </p:nvSpPr>
        <p:spPr>
          <a:xfrm>
            <a:off x="1053296" y="1605279"/>
            <a:ext cx="6033304" cy="3134361"/>
          </a:xfrm>
          <a:prstGeom prst="rect">
            <a:avLst/>
          </a:prstGeom>
        </p:spPr>
        <p:txBody>
          <a:bodyPr vert="horz" lIns="91440" tIns="45720" rIns="91440" bIns="45720" rtlCol="0">
            <a:normAutofit/>
          </a:bodyPr>
          <a:lstStyle/>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At first, we’ll check if the schema of the dataset is correct or not.</a:t>
            </a:r>
          </a:p>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Then we’ll check each columns for invalid values:</a:t>
            </a:r>
          </a:p>
          <a:p>
            <a:pPr marL="742950" lvl="1"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For string type: empty or null values</a:t>
            </a:r>
          </a:p>
          <a:p>
            <a:pPr marL="742950" lvl="1"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Other </a:t>
            </a:r>
            <a:r>
              <a:rPr lang="en-US" sz="2000" dirty="0" err="1">
                <a:solidFill>
                  <a:schemeClr val="tx1">
                    <a:lumMod val="75000"/>
                    <a:lumOff val="25000"/>
                  </a:schemeClr>
                </a:solidFill>
                <a:latin typeface="Tenorite" panose="00000500000000000000" pitchFamily="2" charset="0"/>
                <a:cs typeface="Calibri" panose="020F0502020204030204" pitchFamily="34" charset="0"/>
              </a:rPr>
              <a:t>dtype</a:t>
            </a:r>
            <a:r>
              <a:rPr lang="en-US" sz="2000" dirty="0">
                <a:solidFill>
                  <a:schemeClr val="tx1">
                    <a:lumMod val="75000"/>
                    <a:lumOff val="25000"/>
                  </a:schemeClr>
                </a:solidFill>
                <a:latin typeface="Tenorite" panose="00000500000000000000" pitchFamily="2" charset="0"/>
                <a:cs typeface="Calibri" panose="020F0502020204030204" pitchFamily="34" charset="0"/>
              </a:rPr>
              <a:t>: null or negative values</a:t>
            </a:r>
          </a:p>
        </p:txBody>
      </p:sp>
      <p:pic>
        <p:nvPicPr>
          <p:cNvPr id="8" name="Picture 7">
            <a:extLst>
              <a:ext uri="{FF2B5EF4-FFF2-40B4-BE49-F238E27FC236}">
                <a16:creationId xmlns:a16="http://schemas.microsoft.com/office/drawing/2014/main" id="{971CAAAF-E9FA-42CE-9A4F-124470B3A11F}"/>
              </a:ext>
            </a:extLst>
          </p:cNvPr>
          <p:cNvPicPr>
            <a:picLocks noChangeAspect="1"/>
          </p:cNvPicPr>
          <p:nvPr/>
        </p:nvPicPr>
        <p:blipFill rotWithShape="1">
          <a:blip r:embed="rId2"/>
          <a:srcRect l="2499" t="55543" r="33040" b="11889"/>
          <a:stretch/>
        </p:blipFill>
        <p:spPr>
          <a:xfrm>
            <a:off x="1041242" y="4371339"/>
            <a:ext cx="6312059" cy="2001521"/>
          </a:xfrm>
          <a:prstGeom prst="rect">
            <a:avLst/>
          </a:prstGeom>
        </p:spPr>
      </p:pic>
      <p:sp>
        <p:nvSpPr>
          <p:cNvPr id="4" name="TextBox 3">
            <a:extLst>
              <a:ext uri="{FF2B5EF4-FFF2-40B4-BE49-F238E27FC236}">
                <a16:creationId xmlns:a16="http://schemas.microsoft.com/office/drawing/2014/main" id="{D235A34B-E30D-4666-B53B-9965DF2A636B}"/>
              </a:ext>
            </a:extLst>
          </p:cNvPr>
          <p:cNvSpPr txBox="1"/>
          <p:nvPr/>
        </p:nvSpPr>
        <p:spPr>
          <a:xfrm>
            <a:off x="7353301" y="5788084"/>
            <a:ext cx="4838699" cy="646331"/>
          </a:xfrm>
          <a:prstGeom prst="rect">
            <a:avLst/>
          </a:prstGeom>
          <a:noFill/>
        </p:spPr>
        <p:txBody>
          <a:bodyPr wrap="square" rtlCol="0">
            <a:spAutoFit/>
          </a:bodyPr>
          <a:lstStyle/>
          <a:p>
            <a:r>
              <a:rPr lang="en-US" b="1" dirty="0">
                <a:solidFill>
                  <a:srgbClr val="178DBB"/>
                </a:solidFill>
                <a:latin typeface="Tenorite" panose="00000500000000000000" pitchFamily="2" charset="0"/>
                <a:cs typeface="Calibri" panose="020F0502020204030204" pitchFamily="34" charset="0"/>
              </a:rPr>
              <a:t>INSIGHT: </a:t>
            </a:r>
          </a:p>
          <a:p>
            <a:r>
              <a:rPr lang="en-US" dirty="0">
                <a:latin typeface="Tenorite" panose="00000500000000000000" pitchFamily="2" charset="0"/>
                <a:cs typeface="Calibri" panose="020F0502020204030204" pitchFamily="34" charset="0"/>
              </a:rPr>
              <a:t>There is no null or wrong values in our dataset</a:t>
            </a:r>
            <a:endParaRPr lang="en-US" b="1" dirty="0">
              <a:latin typeface="Tenorite" panose="00000500000000000000" pitchFamily="2" charset="0"/>
              <a:cs typeface="Calibri" panose="020F0502020204030204" pitchFamily="34" charset="0"/>
            </a:endParaRPr>
          </a:p>
        </p:txBody>
      </p:sp>
    </p:spTree>
    <p:extLst>
      <p:ext uri="{BB962C8B-B14F-4D97-AF65-F5344CB8AC3E}">
        <p14:creationId xmlns:p14="http://schemas.microsoft.com/office/powerpoint/2010/main" val="2548541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2D36276-22B0-4FBD-AEC1-ACD46269BAEE}"/>
              </a:ext>
            </a:extLst>
          </p:cNvPr>
          <p:cNvSpPr txBox="1">
            <a:spLocks/>
          </p:cNvSpPr>
          <p:nvPr/>
        </p:nvSpPr>
        <p:spPr>
          <a:xfrm>
            <a:off x="2442972" y="645106"/>
            <a:ext cx="7306056" cy="72649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000" b="1" dirty="0">
                <a:solidFill>
                  <a:srgbClr val="178DBB"/>
                </a:solidFill>
                <a:latin typeface="Tenorite Display" panose="00000500000000000000" pitchFamily="2" charset="0"/>
              </a:rPr>
              <a:t>PART 3: EXPLORING THE DATA</a:t>
            </a:r>
          </a:p>
        </p:txBody>
      </p:sp>
      <p:sp>
        <p:nvSpPr>
          <p:cNvPr id="78" name="TextBox 77">
            <a:extLst>
              <a:ext uri="{FF2B5EF4-FFF2-40B4-BE49-F238E27FC236}">
                <a16:creationId xmlns:a16="http://schemas.microsoft.com/office/drawing/2014/main" id="{926F02A6-631C-4D90-8615-9EDABE20DB87}"/>
              </a:ext>
            </a:extLst>
          </p:cNvPr>
          <p:cNvSpPr txBox="1"/>
          <p:nvPr/>
        </p:nvSpPr>
        <p:spPr>
          <a:xfrm>
            <a:off x="1111168" y="1487850"/>
            <a:ext cx="10278319" cy="2774181"/>
          </a:xfrm>
          <a:prstGeom prst="rect">
            <a:avLst/>
          </a:prstGeom>
        </p:spPr>
        <p:txBody>
          <a:bodyPr vert="horz" lIns="91440" tIns="45720" rIns="91440" bIns="45720" rtlCol="0">
            <a:noAutofit/>
          </a:bodyPr>
          <a:lstStyle/>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First, we need to check the correlation of our features, and for that we need to create a new column with the help of VectorAssembler and then we use Correlation library of PySpark to create the correlation matrix and the output is shown into Pandas format which has better readability as compared to Sparks format.</a:t>
            </a:r>
          </a:p>
          <a:p>
            <a:pPr marL="285750" indent="-28575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A new column named “features” is created which has all the information of the given features and is shown below.</a:t>
            </a:r>
          </a:p>
        </p:txBody>
      </p:sp>
      <p:pic>
        <p:nvPicPr>
          <p:cNvPr id="3" name="Picture 2">
            <a:extLst>
              <a:ext uri="{FF2B5EF4-FFF2-40B4-BE49-F238E27FC236}">
                <a16:creationId xmlns:a16="http://schemas.microsoft.com/office/drawing/2014/main" id="{B4736324-F4A8-4951-9323-95997B6962B7}"/>
              </a:ext>
            </a:extLst>
          </p:cNvPr>
          <p:cNvPicPr>
            <a:picLocks noChangeAspect="1"/>
          </p:cNvPicPr>
          <p:nvPr/>
        </p:nvPicPr>
        <p:blipFill>
          <a:blip r:embed="rId2"/>
          <a:stretch>
            <a:fillRect/>
          </a:stretch>
        </p:blipFill>
        <p:spPr>
          <a:xfrm>
            <a:off x="1186546" y="4378281"/>
            <a:ext cx="10127561" cy="2103432"/>
          </a:xfrm>
          <a:prstGeom prst="rect">
            <a:avLst/>
          </a:prstGeom>
        </p:spPr>
      </p:pic>
    </p:spTree>
    <p:extLst>
      <p:ext uri="{BB962C8B-B14F-4D97-AF65-F5344CB8AC3E}">
        <p14:creationId xmlns:p14="http://schemas.microsoft.com/office/powerpoint/2010/main" val="1878136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2D36276-22B0-4FBD-AEC1-ACD46269BAEE}"/>
              </a:ext>
            </a:extLst>
          </p:cNvPr>
          <p:cNvSpPr txBox="1">
            <a:spLocks/>
          </p:cNvSpPr>
          <p:nvPr/>
        </p:nvSpPr>
        <p:spPr>
          <a:xfrm>
            <a:off x="2830081" y="645106"/>
            <a:ext cx="6531838" cy="8711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CORRELATION MATRIX</a:t>
            </a:r>
          </a:p>
        </p:txBody>
      </p:sp>
      <p:sp>
        <p:nvSpPr>
          <p:cNvPr id="78" name="TextBox 77">
            <a:extLst>
              <a:ext uri="{FF2B5EF4-FFF2-40B4-BE49-F238E27FC236}">
                <a16:creationId xmlns:a16="http://schemas.microsoft.com/office/drawing/2014/main" id="{926F02A6-631C-4D90-8615-9EDABE20DB87}"/>
              </a:ext>
            </a:extLst>
          </p:cNvPr>
          <p:cNvSpPr txBox="1"/>
          <p:nvPr/>
        </p:nvSpPr>
        <p:spPr>
          <a:xfrm>
            <a:off x="1067709" y="1844406"/>
            <a:ext cx="5305246" cy="4263256"/>
          </a:xfrm>
          <a:prstGeom prst="rect">
            <a:avLst/>
          </a:prstGeom>
        </p:spPr>
        <p:txBody>
          <a:bodyPr vert="horz" lIns="91440" tIns="45720" rIns="91440" bIns="45720" rtlCol="0">
            <a:noAutofit/>
          </a:bodyPr>
          <a:lstStyle/>
          <a:p>
            <a:pPr marL="342900"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For better readability I’ve used seaborn package of python to create a heatmap of the correlations so that we can easily distinguish between the highest and lowest correlated features by color itself, and as we can see “</a:t>
            </a:r>
            <a:r>
              <a:rPr lang="en-US" sz="2000" dirty="0" err="1">
                <a:solidFill>
                  <a:schemeClr val="tx1">
                    <a:lumMod val="75000"/>
                    <a:lumOff val="25000"/>
                  </a:schemeClr>
                </a:solidFill>
                <a:latin typeface="Tenorite" panose="00000500000000000000" pitchFamily="2" charset="0"/>
                <a:cs typeface="Calibri" panose="020F0502020204030204" pitchFamily="34" charset="0"/>
              </a:rPr>
              <a:t>newbalanceDest</a:t>
            </a:r>
            <a:r>
              <a:rPr lang="en-US" sz="2000" dirty="0">
                <a:solidFill>
                  <a:schemeClr val="tx1">
                    <a:lumMod val="75000"/>
                    <a:lumOff val="25000"/>
                  </a:schemeClr>
                </a:solidFill>
                <a:latin typeface="Tenorite" panose="00000500000000000000" pitchFamily="2" charset="0"/>
                <a:cs typeface="Calibri" panose="020F0502020204030204" pitchFamily="34" charset="0"/>
              </a:rPr>
              <a:t>” has the highest correlation with “amount” with 0.46 which is not that high in real life situation.</a:t>
            </a:r>
          </a:p>
        </p:txBody>
      </p:sp>
      <p:pic>
        <p:nvPicPr>
          <p:cNvPr id="3" name="Picture 2">
            <a:extLst>
              <a:ext uri="{FF2B5EF4-FFF2-40B4-BE49-F238E27FC236}">
                <a16:creationId xmlns:a16="http://schemas.microsoft.com/office/drawing/2014/main" id="{87A47B33-D4D2-4791-9F87-F3E94B822B16}"/>
              </a:ext>
            </a:extLst>
          </p:cNvPr>
          <p:cNvPicPr>
            <a:picLocks noChangeAspect="1"/>
          </p:cNvPicPr>
          <p:nvPr/>
        </p:nvPicPr>
        <p:blipFill rotWithShape="1">
          <a:blip r:embed="rId2"/>
          <a:srcRect l="5962" t="5409" r="6096" b="2264"/>
          <a:stretch/>
        </p:blipFill>
        <p:spPr>
          <a:xfrm>
            <a:off x="6372955" y="1844406"/>
            <a:ext cx="5305246" cy="4465654"/>
          </a:xfrm>
          <a:prstGeom prst="rect">
            <a:avLst/>
          </a:prstGeom>
        </p:spPr>
      </p:pic>
    </p:spTree>
    <p:extLst>
      <p:ext uri="{BB962C8B-B14F-4D97-AF65-F5344CB8AC3E}">
        <p14:creationId xmlns:p14="http://schemas.microsoft.com/office/powerpoint/2010/main" val="1131531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2D36276-22B0-4FBD-AEC1-ACD46269BAEE}"/>
              </a:ext>
            </a:extLst>
          </p:cNvPr>
          <p:cNvSpPr txBox="1">
            <a:spLocks/>
          </p:cNvSpPr>
          <p:nvPr/>
        </p:nvSpPr>
        <p:spPr>
          <a:xfrm>
            <a:off x="1995604" y="692641"/>
            <a:ext cx="8200792" cy="748083"/>
          </a:xfrm>
          <a:prstGeom prst="rect">
            <a:avLst/>
          </a:prstGeom>
        </p:spPr>
        <p:txBody>
          <a:bodyPr vert="horz" lIns="91440" tIns="45720" rIns="91440" bIns="45720" rtlCol="0" anchor="t">
            <a:normAutofit lnSpcReduction="100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PART 3: EXPLORING THE DATA</a:t>
            </a:r>
          </a:p>
        </p:txBody>
      </p:sp>
      <p:sp>
        <p:nvSpPr>
          <p:cNvPr id="5" name="TextBox 4">
            <a:extLst>
              <a:ext uri="{FF2B5EF4-FFF2-40B4-BE49-F238E27FC236}">
                <a16:creationId xmlns:a16="http://schemas.microsoft.com/office/drawing/2014/main" id="{B7FDE965-FD29-4D81-94F8-B860BA948CC5}"/>
              </a:ext>
            </a:extLst>
          </p:cNvPr>
          <p:cNvSpPr txBox="1"/>
          <p:nvPr/>
        </p:nvSpPr>
        <p:spPr>
          <a:xfrm>
            <a:off x="1053297" y="1631236"/>
            <a:ext cx="4985981" cy="4657386"/>
          </a:xfrm>
          <a:prstGeom prst="rect">
            <a:avLst/>
          </a:prstGeom>
        </p:spPr>
        <p:txBody>
          <a:bodyPr vert="horz" lIns="91440" tIns="45720" rIns="91440" bIns="45720" rtlCol="0">
            <a:noAutofit/>
          </a:bodyPr>
          <a:lstStyle/>
          <a:p>
            <a:pPr>
              <a:spcBef>
                <a:spcPts val="1000"/>
              </a:spcBef>
              <a:buClr>
                <a:srgbClr val="178DBB"/>
              </a:buClr>
            </a:pPr>
            <a:r>
              <a:rPr lang="en-US" sz="2000" dirty="0">
                <a:solidFill>
                  <a:schemeClr val="tx1">
                    <a:lumMod val="75000"/>
                    <a:lumOff val="25000"/>
                  </a:schemeClr>
                </a:solidFill>
                <a:latin typeface="Tenorite" panose="00000500000000000000" pitchFamily="2" charset="0"/>
                <a:cs typeface="Calibri" panose="020F0502020204030204" pitchFamily="34" charset="0"/>
              </a:rPr>
              <a:t>Now we will try do find some more statistical inferences from the dataset.</a:t>
            </a:r>
          </a:p>
          <a:p>
            <a:pPr marL="800100" lvl="1" indent="-342900">
              <a:spcBef>
                <a:spcPts val="1000"/>
              </a:spcBef>
              <a:buClr>
                <a:srgbClr val="178DBB"/>
              </a:buClr>
              <a:buFont typeface="+mj-lt"/>
              <a:buAutoNum type="arabicParenR"/>
            </a:pPr>
            <a:r>
              <a:rPr lang="en-US" sz="2000" dirty="0">
                <a:solidFill>
                  <a:schemeClr val="tx1">
                    <a:lumMod val="75000"/>
                    <a:lumOff val="25000"/>
                  </a:schemeClr>
                </a:solidFill>
                <a:latin typeface="Tenorite" panose="00000500000000000000" pitchFamily="2" charset="0"/>
                <a:cs typeface="Calibri" panose="020F0502020204030204" pitchFamily="34" charset="0"/>
              </a:rPr>
              <a:t>What’s the frequency of different types of payment methods.</a:t>
            </a:r>
          </a:p>
          <a:p>
            <a:pPr marL="800100" lvl="1" indent="-342900">
              <a:spcBef>
                <a:spcPts val="1000"/>
              </a:spcBef>
              <a:buClr>
                <a:srgbClr val="178DBB"/>
              </a:buClr>
              <a:buFont typeface="+mj-lt"/>
              <a:buAutoNum type="arabicParenR"/>
            </a:pPr>
            <a:r>
              <a:rPr lang="en-US" sz="2000" dirty="0">
                <a:solidFill>
                  <a:schemeClr val="tx1">
                    <a:lumMod val="75000"/>
                    <a:lumOff val="25000"/>
                  </a:schemeClr>
                </a:solidFill>
                <a:latin typeface="Tenorite" panose="00000500000000000000" pitchFamily="2" charset="0"/>
                <a:cs typeface="Calibri" panose="020F0502020204030204" pitchFamily="34" charset="0"/>
              </a:rPr>
              <a:t>What’s the statistical summary of transaction amounts.</a:t>
            </a:r>
          </a:p>
          <a:p>
            <a:pPr marL="800100" lvl="1" indent="-342900">
              <a:spcBef>
                <a:spcPts val="1000"/>
              </a:spcBef>
              <a:buClr>
                <a:srgbClr val="178DBB"/>
              </a:buClr>
              <a:buFont typeface="+mj-lt"/>
              <a:buAutoNum type="arabicParenR"/>
            </a:pPr>
            <a:r>
              <a:rPr lang="en-US" sz="2000" dirty="0">
                <a:solidFill>
                  <a:schemeClr val="tx1">
                    <a:lumMod val="75000"/>
                    <a:lumOff val="25000"/>
                  </a:schemeClr>
                </a:solidFill>
                <a:latin typeface="Tenorite" panose="00000500000000000000" pitchFamily="2" charset="0"/>
                <a:cs typeface="Calibri" panose="020F0502020204030204" pitchFamily="34" charset="0"/>
              </a:rPr>
              <a:t>What’s the statistical summary of Fraudulent transactions amounts.</a:t>
            </a:r>
          </a:p>
          <a:p>
            <a:pPr marL="800100" lvl="1" indent="-342900">
              <a:spcBef>
                <a:spcPts val="1000"/>
              </a:spcBef>
              <a:buClr>
                <a:srgbClr val="178DBB"/>
              </a:buClr>
              <a:buFont typeface="+mj-lt"/>
              <a:buAutoNum type="arabicParenR"/>
            </a:pPr>
            <a:r>
              <a:rPr lang="en-US" sz="2000" dirty="0">
                <a:solidFill>
                  <a:schemeClr val="tx1">
                    <a:lumMod val="75000"/>
                    <a:lumOff val="25000"/>
                  </a:schemeClr>
                </a:solidFill>
                <a:latin typeface="Tenorite" panose="00000500000000000000" pitchFamily="2" charset="0"/>
                <a:cs typeface="Calibri" panose="020F0502020204030204" pitchFamily="34" charset="0"/>
              </a:rPr>
              <a:t>What’s the frequency of different types  of payment method for Fraudulent transactions.</a:t>
            </a:r>
          </a:p>
          <a:p>
            <a:pPr marL="800100" lvl="1" indent="-342900">
              <a:spcBef>
                <a:spcPts val="1000"/>
              </a:spcBef>
              <a:buClr>
                <a:srgbClr val="178DBB"/>
              </a:buClr>
              <a:buFont typeface="+mj-lt"/>
              <a:buAutoNum type="arabicParenR"/>
            </a:pPr>
            <a:r>
              <a:rPr lang="en-US" sz="2000" dirty="0">
                <a:solidFill>
                  <a:schemeClr val="tx1">
                    <a:lumMod val="75000"/>
                    <a:lumOff val="25000"/>
                  </a:schemeClr>
                </a:solidFill>
                <a:latin typeface="Tenorite" panose="00000500000000000000" pitchFamily="2" charset="0"/>
                <a:cs typeface="Calibri" panose="020F0502020204030204" pitchFamily="34" charset="0"/>
              </a:rPr>
              <a:t>What’s the frequency of different classes of “</a:t>
            </a:r>
            <a:r>
              <a:rPr lang="en-US" sz="2000" dirty="0" err="1">
                <a:solidFill>
                  <a:schemeClr val="tx1">
                    <a:lumMod val="75000"/>
                    <a:lumOff val="25000"/>
                  </a:schemeClr>
                </a:solidFill>
                <a:latin typeface="Tenorite" panose="00000500000000000000" pitchFamily="2" charset="0"/>
                <a:cs typeface="Calibri" panose="020F0502020204030204" pitchFamily="34" charset="0"/>
              </a:rPr>
              <a:t>isFlaggedFraud</a:t>
            </a:r>
            <a:r>
              <a:rPr lang="en-US" sz="2000" dirty="0">
                <a:solidFill>
                  <a:schemeClr val="tx1">
                    <a:lumMod val="75000"/>
                    <a:lumOff val="25000"/>
                  </a:schemeClr>
                </a:solidFill>
                <a:latin typeface="Tenorite" panose="00000500000000000000" pitchFamily="2" charset="0"/>
                <a:cs typeface="Calibri" panose="020F0502020204030204" pitchFamily="34" charset="0"/>
              </a:rPr>
              <a:t>” column.</a:t>
            </a:r>
          </a:p>
        </p:txBody>
      </p:sp>
      <p:pic>
        <p:nvPicPr>
          <p:cNvPr id="3" name="Picture 2">
            <a:extLst>
              <a:ext uri="{FF2B5EF4-FFF2-40B4-BE49-F238E27FC236}">
                <a16:creationId xmlns:a16="http://schemas.microsoft.com/office/drawing/2014/main" id="{0DBA04A5-6108-4F82-9DF6-6325482EEB1E}"/>
              </a:ext>
            </a:extLst>
          </p:cNvPr>
          <p:cNvPicPr>
            <a:picLocks noChangeAspect="1"/>
          </p:cNvPicPr>
          <p:nvPr/>
        </p:nvPicPr>
        <p:blipFill>
          <a:blip r:embed="rId2"/>
          <a:stretch>
            <a:fillRect/>
          </a:stretch>
        </p:blipFill>
        <p:spPr>
          <a:xfrm>
            <a:off x="6416021" y="1620466"/>
            <a:ext cx="1574815" cy="1727216"/>
          </a:xfrm>
          <a:prstGeom prst="rect">
            <a:avLst/>
          </a:prstGeom>
        </p:spPr>
      </p:pic>
      <p:pic>
        <p:nvPicPr>
          <p:cNvPr id="8" name="Picture 7">
            <a:extLst>
              <a:ext uri="{FF2B5EF4-FFF2-40B4-BE49-F238E27FC236}">
                <a16:creationId xmlns:a16="http://schemas.microsoft.com/office/drawing/2014/main" id="{9C5DB53B-1A24-41A7-A32D-E36FB5D34C54}"/>
              </a:ext>
            </a:extLst>
          </p:cNvPr>
          <p:cNvPicPr>
            <a:picLocks noChangeAspect="1"/>
          </p:cNvPicPr>
          <p:nvPr/>
        </p:nvPicPr>
        <p:blipFill>
          <a:blip r:embed="rId3"/>
          <a:stretch>
            <a:fillRect/>
          </a:stretch>
        </p:blipFill>
        <p:spPr>
          <a:xfrm>
            <a:off x="8834954" y="1625434"/>
            <a:ext cx="2889659" cy="1690036"/>
          </a:xfrm>
          <a:prstGeom prst="rect">
            <a:avLst/>
          </a:prstGeom>
        </p:spPr>
      </p:pic>
      <p:pic>
        <p:nvPicPr>
          <p:cNvPr id="11" name="Picture 10">
            <a:extLst>
              <a:ext uri="{FF2B5EF4-FFF2-40B4-BE49-F238E27FC236}">
                <a16:creationId xmlns:a16="http://schemas.microsoft.com/office/drawing/2014/main" id="{36510834-3713-48E5-A5B2-5A1D1A94860C}"/>
              </a:ext>
            </a:extLst>
          </p:cNvPr>
          <p:cNvPicPr>
            <a:picLocks noChangeAspect="1"/>
          </p:cNvPicPr>
          <p:nvPr/>
        </p:nvPicPr>
        <p:blipFill>
          <a:blip r:embed="rId4"/>
          <a:stretch>
            <a:fillRect/>
          </a:stretch>
        </p:blipFill>
        <p:spPr>
          <a:xfrm>
            <a:off x="6420416" y="3414454"/>
            <a:ext cx="3441529" cy="1690036"/>
          </a:xfrm>
          <a:prstGeom prst="rect">
            <a:avLst/>
          </a:prstGeom>
        </p:spPr>
      </p:pic>
      <p:pic>
        <p:nvPicPr>
          <p:cNvPr id="13" name="Picture 12">
            <a:extLst>
              <a:ext uri="{FF2B5EF4-FFF2-40B4-BE49-F238E27FC236}">
                <a16:creationId xmlns:a16="http://schemas.microsoft.com/office/drawing/2014/main" id="{5E5CD9A3-95BD-4670-83DB-9185835DD08E}"/>
              </a:ext>
            </a:extLst>
          </p:cNvPr>
          <p:cNvPicPr>
            <a:picLocks noChangeAspect="1"/>
          </p:cNvPicPr>
          <p:nvPr/>
        </p:nvPicPr>
        <p:blipFill>
          <a:blip r:embed="rId5"/>
          <a:stretch>
            <a:fillRect/>
          </a:stretch>
        </p:blipFill>
        <p:spPr>
          <a:xfrm>
            <a:off x="10414771" y="3410361"/>
            <a:ext cx="1638529" cy="1276528"/>
          </a:xfrm>
          <a:prstGeom prst="rect">
            <a:avLst/>
          </a:prstGeom>
        </p:spPr>
      </p:pic>
      <p:pic>
        <p:nvPicPr>
          <p:cNvPr id="17" name="Picture 16">
            <a:extLst>
              <a:ext uri="{FF2B5EF4-FFF2-40B4-BE49-F238E27FC236}">
                <a16:creationId xmlns:a16="http://schemas.microsoft.com/office/drawing/2014/main" id="{F3FFB8F8-1D15-4652-8375-6628869F91E7}"/>
              </a:ext>
            </a:extLst>
          </p:cNvPr>
          <p:cNvPicPr>
            <a:picLocks noChangeAspect="1"/>
          </p:cNvPicPr>
          <p:nvPr/>
        </p:nvPicPr>
        <p:blipFill>
          <a:blip r:embed="rId6"/>
          <a:stretch>
            <a:fillRect/>
          </a:stretch>
        </p:blipFill>
        <p:spPr>
          <a:xfrm>
            <a:off x="6427964" y="5404942"/>
            <a:ext cx="2362530" cy="1286054"/>
          </a:xfrm>
          <a:prstGeom prst="rect">
            <a:avLst/>
          </a:prstGeom>
        </p:spPr>
      </p:pic>
      <p:sp>
        <p:nvSpPr>
          <p:cNvPr id="19" name="TextBox 18">
            <a:extLst>
              <a:ext uri="{FF2B5EF4-FFF2-40B4-BE49-F238E27FC236}">
                <a16:creationId xmlns:a16="http://schemas.microsoft.com/office/drawing/2014/main" id="{E71C6C6F-672F-4DF2-8A04-81177DAA5C7F}"/>
              </a:ext>
            </a:extLst>
          </p:cNvPr>
          <p:cNvSpPr txBox="1"/>
          <p:nvPr/>
        </p:nvSpPr>
        <p:spPr>
          <a:xfrm>
            <a:off x="6087785" y="1615718"/>
            <a:ext cx="484204" cy="338554"/>
          </a:xfrm>
          <a:prstGeom prst="rect">
            <a:avLst/>
          </a:prstGeom>
          <a:noFill/>
        </p:spPr>
        <p:txBody>
          <a:bodyPr wrap="square" rtlCol="0">
            <a:spAutoFit/>
          </a:bodyPr>
          <a:lstStyle/>
          <a:p>
            <a:r>
              <a:rPr lang="en-US" sz="1600" b="1" dirty="0"/>
              <a:t>1.</a:t>
            </a:r>
          </a:p>
        </p:txBody>
      </p:sp>
      <p:sp>
        <p:nvSpPr>
          <p:cNvPr id="20" name="TextBox 19">
            <a:extLst>
              <a:ext uri="{FF2B5EF4-FFF2-40B4-BE49-F238E27FC236}">
                <a16:creationId xmlns:a16="http://schemas.microsoft.com/office/drawing/2014/main" id="{E0334A5D-79CC-4091-B1A9-3D74C3753DB3}"/>
              </a:ext>
            </a:extLst>
          </p:cNvPr>
          <p:cNvSpPr txBox="1"/>
          <p:nvPr/>
        </p:nvSpPr>
        <p:spPr>
          <a:xfrm>
            <a:off x="8348178" y="1625606"/>
            <a:ext cx="484204" cy="338554"/>
          </a:xfrm>
          <a:prstGeom prst="rect">
            <a:avLst/>
          </a:prstGeom>
          <a:noFill/>
        </p:spPr>
        <p:txBody>
          <a:bodyPr wrap="square" rtlCol="0">
            <a:spAutoFit/>
          </a:bodyPr>
          <a:lstStyle/>
          <a:p>
            <a:r>
              <a:rPr lang="en-US" sz="1600" b="1" dirty="0"/>
              <a:t>2.</a:t>
            </a:r>
          </a:p>
        </p:txBody>
      </p:sp>
      <p:sp>
        <p:nvSpPr>
          <p:cNvPr id="21" name="TextBox 20">
            <a:extLst>
              <a:ext uri="{FF2B5EF4-FFF2-40B4-BE49-F238E27FC236}">
                <a16:creationId xmlns:a16="http://schemas.microsoft.com/office/drawing/2014/main" id="{01CBA630-908C-4BE0-9EF5-116AD6E606A9}"/>
              </a:ext>
            </a:extLst>
          </p:cNvPr>
          <p:cNvSpPr txBox="1"/>
          <p:nvPr/>
        </p:nvSpPr>
        <p:spPr>
          <a:xfrm>
            <a:off x="6092180" y="3467175"/>
            <a:ext cx="484204" cy="338554"/>
          </a:xfrm>
          <a:prstGeom prst="rect">
            <a:avLst/>
          </a:prstGeom>
          <a:noFill/>
        </p:spPr>
        <p:txBody>
          <a:bodyPr wrap="square" rtlCol="0">
            <a:spAutoFit/>
          </a:bodyPr>
          <a:lstStyle/>
          <a:p>
            <a:r>
              <a:rPr lang="en-US" sz="1600" b="1" dirty="0"/>
              <a:t>3.</a:t>
            </a:r>
          </a:p>
        </p:txBody>
      </p:sp>
      <p:sp>
        <p:nvSpPr>
          <p:cNvPr id="22" name="TextBox 21">
            <a:extLst>
              <a:ext uri="{FF2B5EF4-FFF2-40B4-BE49-F238E27FC236}">
                <a16:creationId xmlns:a16="http://schemas.microsoft.com/office/drawing/2014/main" id="{D15E9444-AC32-452B-A796-08A15B681C9C}"/>
              </a:ext>
            </a:extLst>
          </p:cNvPr>
          <p:cNvSpPr txBox="1"/>
          <p:nvPr/>
        </p:nvSpPr>
        <p:spPr>
          <a:xfrm>
            <a:off x="9922182" y="3434092"/>
            <a:ext cx="484204" cy="338554"/>
          </a:xfrm>
          <a:prstGeom prst="rect">
            <a:avLst/>
          </a:prstGeom>
          <a:noFill/>
        </p:spPr>
        <p:txBody>
          <a:bodyPr wrap="square" rtlCol="0">
            <a:spAutoFit/>
          </a:bodyPr>
          <a:lstStyle/>
          <a:p>
            <a:r>
              <a:rPr lang="en-US" sz="1600" b="1" dirty="0"/>
              <a:t>4.</a:t>
            </a:r>
          </a:p>
        </p:txBody>
      </p:sp>
      <p:sp>
        <p:nvSpPr>
          <p:cNvPr id="23" name="TextBox 22">
            <a:extLst>
              <a:ext uri="{FF2B5EF4-FFF2-40B4-BE49-F238E27FC236}">
                <a16:creationId xmlns:a16="http://schemas.microsoft.com/office/drawing/2014/main" id="{9D1D103E-4185-4DF8-BDFA-310AF141CB12}"/>
              </a:ext>
            </a:extLst>
          </p:cNvPr>
          <p:cNvSpPr txBox="1"/>
          <p:nvPr/>
        </p:nvSpPr>
        <p:spPr>
          <a:xfrm>
            <a:off x="6047934" y="5552312"/>
            <a:ext cx="484204" cy="338554"/>
          </a:xfrm>
          <a:prstGeom prst="rect">
            <a:avLst/>
          </a:prstGeom>
          <a:noFill/>
        </p:spPr>
        <p:txBody>
          <a:bodyPr wrap="square" rtlCol="0">
            <a:spAutoFit/>
          </a:bodyPr>
          <a:lstStyle/>
          <a:p>
            <a:r>
              <a:rPr lang="en-US" sz="1600" b="1" dirty="0"/>
              <a:t>5.</a:t>
            </a:r>
          </a:p>
        </p:txBody>
      </p:sp>
    </p:spTree>
    <p:extLst>
      <p:ext uri="{BB962C8B-B14F-4D97-AF65-F5344CB8AC3E}">
        <p14:creationId xmlns:p14="http://schemas.microsoft.com/office/powerpoint/2010/main" val="4123818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2D36276-22B0-4FBD-AEC1-ACD46269BAEE}"/>
              </a:ext>
            </a:extLst>
          </p:cNvPr>
          <p:cNvSpPr txBox="1">
            <a:spLocks/>
          </p:cNvSpPr>
          <p:nvPr/>
        </p:nvSpPr>
        <p:spPr>
          <a:xfrm>
            <a:off x="1333245" y="645106"/>
            <a:ext cx="9525508" cy="709132"/>
          </a:xfrm>
          <a:prstGeom prst="rect">
            <a:avLst/>
          </a:prstGeom>
        </p:spPr>
        <p:txBody>
          <a:bodyPr vert="horz" lIns="91440" tIns="45720" rIns="91440" bIns="45720" rtlCol="0" anchor="t">
            <a:normAutofit lnSpcReduction="100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WHAT CLASSIFIES AS “</a:t>
            </a:r>
            <a:r>
              <a:rPr lang="en-US" sz="4400" b="1" dirty="0" err="1">
                <a:solidFill>
                  <a:srgbClr val="178DBB"/>
                </a:solidFill>
                <a:latin typeface="Tenorite Display" panose="00000500000000000000" pitchFamily="2" charset="0"/>
              </a:rPr>
              <a:t>isFlaggedFraud</a:t>
            </a:r>
            <a:r>
              <a:rPr lang="en-US" sz="4400" b="1" dirty="0">
                <a:solidFill>
                  <a:srgbClr val="178DBB"/>
                </a:solidFill>
                <a:latin typeface="Tenorite Display" panose="00000500000000000000" pitchFamily="2" charset="0"/>
              </a:rPr>
              <a:t>” </a:t>
            </a:r>
          </a:p>
        </p:txBody>
      </p:sp>
      <p:sp>
        <p:nvSpPr>
          <p:cNvPr id="5" name="TextBox 4">
            <a:extLst>
              <a:ext uri="{FF2B5EF4-FFF2-40B4-BE49-F238E27FC236}">
                <a16:creationId xmlns:a16="http://schemas.microsoft.com/office/drawing/2014/main" id="{B7FDE965-FD29-4D81-94F8-B860BA948CC5}"/>
              </a:ext>
            </a:extLst>
          </p:cNvPr>
          <p:cNvSpPr txBox="1"/>
          <p:nvPr/>
        </p:nvSpPr>
        <p:spPr>
          <a:xfrm>
            <a:off x="1203452" y="1639367"/>
            <a:ext cx="9785096" cy="2354171"/>
          </a:xfrm>
          <a:prstGeom prst="rect">
            <a:avLst/>
          </a:prstGeom>
        </p:spPr>
        <p:txBody>
          <a:bodyPr vert="horz" lIns="91440" tIns="45720" rIns="91440" bIns="45720" rtlCol="0">
            <a:noAutofit/>
          </a:bodyPr>
          <a:lstStyle/>
          <a:p>
            <a:pPr marL="342900"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In the overview of the dataset, “</a:t>
            </a:r>
            <a:r>
              <a:rPr lang="en-US" sz="2000" b="1" dirty="0" err="1">
                <a:solidFill>
                  <a:schemeClr val="tx1">
                    <a:lumMod val="75000"/>
                    <a:lumOff val="25000"/>
                  </a:schemeClr>
                </a:solidFill>
                <a:latin typeface="Tenorite" panose="00000500000000000000" pitchFamily="2" charset="0"/>
                <a:cs typeface="Calibri" panose="020F0502020204030204" pitchFamily="34" charset="0"/>
              </a:rPr>
              <a:t>isFlaggedFraud</a:t>
            </a:r>
            <a:r>
              <a:rPr lang="en-US" sz="2000" dirty="0">
                <a:solidFill>
                  <a:schemeClr val="tx1">
                    <a:lumMod val="75000"/>
                    <a:lumOff val="25000"/>
                  </a:schemeClr>
                </a:solidFill>
                <a:latin typeface="Tenorite" panose="00000500000000000000" pitchFamily="2" charset="0"/>
                <a:cs typeface="Calibri" panose="020F0502020204030204" pitchFamily="34" charset="0"/>
              </a:rPr>
              <a:t>” is defined as:</a:t>
            </a:r>
          </a:p>
          <a:p>
            <a:pPr marL="800100" lvl="1"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 "An illegal attempt in this dataset is an attempt to transfer more than 200,000 in a single transaction.“</a:t>
            </a:r>
          </a:p>
          <a:p>
            <a:pPr marL="342900"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 But we must check through our dataset whether is this statement correct or not.</a:t>
            </a:r>
          </a:p>
          <a:p>
            <a:pPr marL="342900" indent="-342900">
              <a:lnSpc>
                <a:spcPct val="150000"/>
              </a:lnSpc>
              <a:spcBef>
                <a:spcPts val="1000"/>
              </a:spcBef>
              <a:buClr>
                <a:srgbClr val="8BE6FF"/>
              </a:buClr>
              <a:buFont typeface="Wingdings" panose="05000000000000000000" pitchFamily="2" charset="2"/>
              <a:buChar char="Ø"/>
            </a:pPr>
            <a:endParaRPr lang="en-US" sz="2000" dirty="0">
              <a:solidFill>
                <a:schemeClr val="tx1">
                  <a:lumMod val="75000"/>
                  <a:lumOff val="25000"/>
                </a:schemeClr>
              </a:solidFill>
              <a:latin typeface="Tenorite" panose="00000500000000000000" pitchFamily="2" charset="0"/>
              <a:cs typeface="Calibri" panose="020F0502020204030204" pitchFamily="34" charset="0"/>
            </a:endParaRPr>
          </a:p>
        </p:txBody>
      </p:sp>
      <p:pic>
        <p:nvPicPr>
          <p:cNvPr id="7" name="Picture 6">
            <a:extLst>
              <a:ext uri="{FF2B5EF4-FFF2-40B4-BE49-F238E27FC236}">
                <a16:creationId xmlns:a16="http://schemas.microsoft.com/office/drawing/2014/main" id="{98ADB330-57C6-4581-8971-AD7F41FB94F7}"/>
              </a:ext>
            </a:extLst>
          </p:cNvPr>
          <p:cNvPicPr>
            <a:picLocks noChangeAspect="1"/>
          </p:cNvPicPr>
          <p:nvPr/>
        </p:nvPicPr>
        <p:blipFill>
          <a:blip r:embed="rId2"/>
          <a:stretch>
            <a:fillRect/>
          </a:stretch>
        </p:blipFill>
        <p:spPr>
          <a:xfrm>
            <a:off x="2351634" y="3893412"/>
            <a:ext cx="7488731" cy="1728168"/>
          </a:xfrm>
          <a:prstGeom prst="rect">
            <a:avLst/>
          </a:prstGeom>
        </p:spPr>
      </p:pic>
      <p:sp>
        <p:nvSpPr>
          <p:cNvPr id="25" name="TextBox 24">
            <a:extLst>
              <a:ext uri="{FF2B5EF4-FFF2-40B4-BE49-F238E27FC236}">
                <a16:creationId xmlns:a16="http://schemas.microsoft.com/office/drawing/2014/main" id="{E079341F-689C-4749-BBF2-0AB296CDDAD2}"/>
              </a:ext>
            </a:extLst>
          </p:cNvPr>
          <p:cNvSpPr txBox="1"/>
          <p:nvPr/>
        </p:nvSpPr>
        <p:spPr>
          <a:xfrm>
            <a:off x="1203452" y="5781041"/>
            <a:ext cx="10110215" cy="1076959"/>
          </a:xfrm>
          <a:prstGeom prst="rect">
            <a:avLst/>
          </a:prstGeom>
        </p:spPr>
        <p:txBody>
          <a:bodyPr vert="horz" lIns="91440" tIns="45720" rIns="91440" bIns="45720" rtlCol="0">
            <a:noAutofit/>
          </a:bodyPr>
          <a:lstStyle/>
          <a:p>
            <a:pPr>
              <a:lnSpc>
                <a:spcPct val="150000"/>
              </a:lnSpc>
              <a:spcBef>
                <a:spcPts val="1000"/>
              </a:spcBef>
              <a:buClr>
                <a:srgbClr val="8BE6FF"/>
              </a:buClr>
            </a:pPr>
            <a:r>
              <a:rPr lang="en-US" sz="2000" b="1" u="sng" dirty="0">
                <a:solidFill>
                  <a:srgbClr val="178DBB"/>
                </a:solidFill>
                <a:latin typeface="Tenorite" panose="00000500000000000000" pitchFamily="2" charset="0"/>
                <a:cs typeface="Calibri" panose="020F0502020204030204" pitchFamily="34" charset="0"/>
              </a:rPr>
              <a:t>INSIGHT</a:t>
            </a:r>
            <a:r>
              <a:rPr lang="en-US" sz="2000" b="1" dirty="0">
                <a:solidFill>
                  <a:schemeClr val="tx1">
                    <a:lumMod val="75000"/>
                    <a:lumOff val="25000"/>
                  </a:schemeClr>
                </a:solidFill>
                <a:latin typeface="Tenorite" panose="00000500000000000000" pitchFamily="2" charset="0"/>
                <a:cs typeface="Calibri" panose="020F0502020204030204" pitchFamily="34" charset="0"/>
              </a:rPr>
              <a:t> :</a:t>
            </a:r>
            <a:r>
              <a:rPr lang="en-US" sz="2000" dirty="0">
                <a:solidFill>
                  <a:schemeClr val="tx1">
                    <a:lumMod val="75000"/>
                    <a:lumOff val="25000"/>
                  </a:schemeClr>
                </a:solidFill>
                <a:latin typeface="Tenorite" panose="00000500000000000000" pitchFamily="2" charset="0"/>
                <a:cs typeface="Calibri" panose="020F0502020204030204" pitchFamily="34" charset="0"/>
              </a:rPr>
              <a:t> We can clearly see that though there are only 16 cases of frauds, the average amount is very high almost 27 times the average amount of non-fraudulent customers.</a:t>
            </a:r>
          </a:p>
        </p:txBody>
      </p:sp>
    </p:spTree>
    <p:extLst>
      <p:ext uri="{BB962C8B-B14F-4D97-AF65-F5344CB8AC3E}">
        <p14:creationId xmlns:p14="http://schemas.microsoft.com/office/powerpoint/2010/main" val="979978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0">
            <a:extLst>
              <a:ext uri="{FF2B5EF4-FFF2-40B4-BE49-F238E27FC236}">
                <a16:creationId xmlns:a16="http://schemas.microsoft.com/office/drawing/2014/main" id="{046B2854-F70F-41A0-A639-8CFBE78FCBA6}"/>
              </a:ext>
            </a:extLst>
          </p:cNvPr>
          <p:cNvSpPr txBox="1">
            <a:spLocks/>
          </p:cNvSpPr>
          <p:nvPr/>
        </p:nvSpPr>
        <p:spPr>
          <a:xfrm>
            <a:off x="1889587" y="624110"/>
            <a:ext cx="8412826" cy="730128"/>
          </a:xfrm>
          <a:prstGeom prst="rect">
            <a:avLst/>
          </a:prstGeom>
        </p:spPr>
        <p:txBody>
          <a:bodyPr vert="horz" lIns="91440" tIns="45720" rIns="91440" bIns="45720" rtlCol="0">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dirty="0">
                <a:solidFill>
                  <a:srgbClr val="178DBB"/>
                </a:solidFill>
                <a:latin typeface="Tenorite Display" panose="00000500000000000000" pitchFamily="2" charset="0"/>
              </a:rPr>
              <a:t>SOME OTHER INSIGHTS WE FOUND</a:t>
            </a:r>
            <a:endParaRPr lang="en-US" sz="4400" dirty="0">
              <a:solidFill>
                <a:srgbClr val="178DBB"/>
              </a:solidFill>
              <a:latin typeface="Tenorite Display" panose="00000500000000000000" pitchFamily="2" charset="0"/>
            </a:endParaRPr>
          </a:p>
        </p:txBody>
      </p:sp>
      <p:sp>
        <p:nvSpPr>
          <p:cNvPr id="5" name="TextBox 4">
            <a:extLst>
              <a:ext uri="{FF2B5EF4-FFF2-40B4-BE49-F238E27FC236}">
                <a16:creationId xmlns:a16="http://schemas.microsoft.com/office/drawing/2014/main" id="{B7FDE965-FD29-4D81-94F8-B860BA948CC5}"/>
              </a:ext>
            </a:extLst>
          </p:cNvPr>
          <p:cNvSpPr txBox="1"/>
          <p:nvPr/>
        </p:nvSpPr>
        <p:spPr>
          <a:xfrm>
            <a:off x="2573028" y="2098372"/>
            <a:ext cx="5745988" cy="1353278"/>
          </a:xfrm>
          <a:prstGeom prst="rect">
            <a:avLst/>
          </a:prstGeom>
        </p:spPr>
        <p:txBody>
          <a:bodyPr vert="horz" lIns="91440" tIns="45720" rIns="91440" bIns="45720" rtlCol="0">
            <a:noAutofit/>
          </a:bodyPr>
          <a:lstStyle/>
          <a:p>
            <a:pPr marL="342900"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We know that fraudulent transactions only take form in 'CASH_OUT' and 'TRANSFER'. Therefore, we can skip checking other type of transactions.</a:t>
            </a:r>
          </a:p>
        </p:txBody>
      </p:sp>
      <p:pic>
        <p:nvPicPr>
          <p:cNvPr id="3" name="Graphic 2" descr="Robot Hand with solid fill">
            <a:extLst>
              <a:ext uri="{FF2B5EF4-FFF2-40B4-BE49-F238E27FC236}">
                <a16:creationId xmlns:a16="http://schemas.microsoft.com/office/drawing/2014/main" id="{9A5E110E-0204-478A-8700-EF1C518550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73028" y="3855047"/>
            <a:ext cx="1858205" cy="1858205"/>
          </a:xfrm>
          <a:prstGeom prst="rect">
            <a:avLst/>
          </a:prstGeom>
        </p:spPr>
      </p:pic>
      <p:pic>
        <p:nvPicPr>
          <p:cNvPr id="6" name="Graphic 5" descr="Flying Money with solid fill">
            <a:extLst>
              <a:ext uri="{FF2B5EF4-FFF2-40B4-BE49-F238E27FC236}">
                <a16:creationId xmlns:a16="http://schemas.microsoft.com/office/drawing/2014/main" id="{FFDE0EDE-D2AF-4D5D-8BD1-2E93245801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09732" y="1905000"/>
            <a:ext cx="1618480" cy="1618480"/>
          </a:xfrm>
          <a:prstGeom prst="rect">
            <a:avLst/>
          </a:prstGeom>
        </p:spPr>
      </p:pic>
      <p:sp>
        <p:nvSpPr>
          <p:cNvPr id="65" name="TextBox 64">
            <a:extLst>
              <a:ext uri="{FF2B5EF4-FFF2-40B4-BE49-F238E27FC236}">
                <a16:creationId xmlns:a16="http://schemas.microsoft.com/office/drawing/2014/main" id="{D41575D2-C12D-490B-BD8E-DB122CC0EF80}"/>
              </a:ext>
            </a:extLst>
          </p:cNvPr>
          <p:cNvSpPr txBox="1"/>
          <p:nvPr/>
        </p:nvSpPr>
        <p:spPr>
          <a:xfrm>
            <a:off x="4765545" y="4065071"/>
            <a:ext cx="6106161" cy="2147823"/>
          </a:xfrm>
          <a:prstGeom prst="rect">
            <a:avLst/>
          </a:prstGeom>
        </p:spPr>
        <p:txBody>
          <a:bodyPr vert="horz" lIns="91440" tIns="45720" rIns="91440" bIns="45720" rtlCol="0">
            <a:noAutofit/>
          </a:bodyPr>
          <a:lstStyle/>
          <a:p>
            <a:pPr marL="342900"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We found that the columns “</a:t>
            </a:r>
            <a:r>
              <a:rPr lang="en-US" sz="2000" dirty="0" err="1">
                <a:solidFill>
                  <a:schemeClr val="tx1">
                    <a:lumMod val="75000"/>
                    <a:lumOff val="25000"/>
                  </a:schemeClr>
                </a:solidFill>
                <a:latin typeface="Tenorite" panose="00000500000000000000" pitchFamily="2" charset="0"/>
                <a:cs typeface="Calibri" panose="020F0502020204030204" pitchFamily="34" charset="0"/>
              </a:rPr>
              <a:t>isFlaggedFraud</a:t>
            </a:r>
            <a:r>
              <a:rPr lang="en-US" sz="2000" dirty="0">
                <a:solidFill>
                  <a:schemeClr val="tx1">
                    <a:lumMod val="75000"/>
                    <a:lumOff val="25000"/>
                  </a:schemeClr>
                </a:solidFill>
                <a:latin typeface="Tenorite" panose="00000500000000000000" pitchFamily="2" charset="0"/>
                <a:cs typeface="Calibri" panose="020F0502020204030204" pitchFamily="34" charset="0"/>
              </a:rPr>
              <a:t>”, “</a:t>
            </a:r>
            <a:r>
              <a:rPr lang="en-US" sz="2000" dirty="0" err="1">
                <a:solidFill>
                  <a:schemeClr val="tx1">
                    <a:lumMod val="75000"/>
                    <a:lumOff val="25000"/>
                  </a:schemeClr>
                </a:solidFill>
                <a:latin typeface="Tenorite" panose="00000500000000000000" pitchFamily="2" charset="0"/>
                <a:cs typeface="Calibri" panose="020F0502020204030204" pitchFamily="34" charset="0"/>
              </a:rPr>
              <a:t>nameOrig</a:t>
            </a:r>
            <a:r>
              <a:rPr lang="en-US" sz="2000" dirty="0">
                <a:solidFill>
                  <a:schemeClr val="tx1">
                    <a:lumMod val="75000"/>
                    <a:lumOff val="25000"/>
                  </a:schemeClr>
                </a:solidFill>
                <a:latin typeface="Tenorite" panose="00000500000000000000" pitchFamily="2" charset="0"/>
                <a:cs typeface="Calibri" panose="020F0502020204030204" pitchFamily="34" charset="0"/>
              </a:rPr>
              <a:t>” and “</a:t>
            </a:r>
            <a:r>
              <a:rPr lang="en-US" sz="2000" dirty="0" err="1">
                <a:solidFill>
                  <a:schemeClr val="tx1">
                    <a:lumMod val="75000"/>
                    <a:lumOff val="25000"/>
                  </a:schemeClr>
                </a:solidFill>
                <a:latin typeface="Tenorite" panose="00000500000000000000" pitchFamily="2" charset="0"/>
                <a:cs typeface="Calibri" panose="020F0502020204030204" pitchFamily="34" charset="0"/>
              </a:rPr>
              <a:t>nameDest</a:t>
            </a:r>
            <a:r>
              <a:rPr lang="en-US" sz="2000" dirty="0">
                <a:solidFill>
                  <a:schemeClr val="tx1">
                    <a:lumMod val="75000"/>
                    <a:lumOff val="25000"/>
                  </a:schemeClr>
                </a:solidFill>
                <a:latin typeface="Tenorite" panose="00000500000000000000" pitchFamily="2" charset="0"/>
                <a:cs typeface="Calibri" panose="020F0502020204030204" pitchFamily="34" charset="0"/>
              </a:rPr>
              <a:t>" do not help in predicting fraudulent transactions. Therefore, we will not use those columns for training our model.</a:t>
            </a:r>
          </a:p>
        </p:txBody>
      </p:sp>
    </p:spTree>
    <p:extLst>
      <p:ext uri="{BB962C8B-B14F-4D97-AF65-F5344CB8AC3E}">
        <p14:creationId xmlns:p14="http://schemas.microsoft.com/office/powerpoint/2010/main" val="3568983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E68F8F9B-016F-4FC7-BDC4-C45F4668E2DF}"/>
              </a:ext>
            </a:extLst>
          </p:cNvPr>
          <p:cNvSpPr txBox="1">
            <a:spLocks/>
          </p:cNvSpPr>
          <p:nvPr/>
        </p:nvSpPr>
        <p:spPr>
          <a:xfrm>
            <a:off x="1889587" y="624110"/>
            <a:ext cx="8412826" cy="730128"/>
          </a:xfrm>
          <a:prstGeom prst="rect">
            <a:avLst/>
          </a:prstGeom>
        </p:spPr>
        <p:txBody>
          <a:bodyPr vert="horz" lIns="91440" tIns="45720" rIns="91440" bIns="45720" rtlCol="0">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dirty="0">
                <a:solidFill>
                  <a:srgbClr val="178DBB"/>
                </a:solidFill>
                <a:latin typeface="Tenorite Display" panose="00000500000000000000" pitchFamily="2" charset="0"/>
              </a:rPr>
              <a:t>BEFORE CREATING MODEL…</a:t>
            </a:r>
            <a:endParaRPr lang="en-US" sz="4400" dirty="0">
              <a:solidFill>
                <a:srgbClr val="178DBB"/>
              </a:solidFill>
              <a:latin typeface="Tenorite Display" panose="00000500000000000000" pitchFamily="2" charset="0"/>
            </a:endParaRPr>
          </a:p>
        </p:txBody>
      </p:sp>
      <p:sp>
        <p:nvSpPr>
          <p:cNvPr id="3" name="TextBox 2">
            <a:extLst>
              <a:ext uri="{FF2B5EF4-FFF2-40B4-BE49-F238E27FC236}">
                <a16:creationId xmlns:a16="http://schemas.microsoft.com/office/drawing/2014/main" id="{75C1EE0F-F4B6-466C-A489-929F240853A5}"/>
              </a:ext>
            </a:extLst>
          </p:cNvPr>
          <p:cNvSpPr txBox="1"/>
          <p:nvPr/>
        </p:nvSpPr>
        <p:spPr>
          <a:xfrm>
            <a:off x="962628" y="1363409"/>
            <a:ext cx="10266744" cy="5292034"/>
          </a:xfrm>
          <a:prstGeom prst="rect">
            <a:avLst/>
          </a:prstGeom>
        </p:spPr>
        <p:txBody>
          <a:bodyPr vert="horz" lIns="91440" tIns="45720" rIns="91440" bIns="45720" rtlCol="0">
            <a:noAutofit/>
          </a:bodyPr>
          <a:lstStyle/>
          <a:p>
            <a:pPr>
              <a:lnSpc>
                <a:spcPct val="150000"/>
              </a:lnSpc>
              <a:spcBef>
                <a:spcPts val="1000"/>
              </a:spcBef>
              <a:buClr>
                <a:srgbClr val="178DBB"/>
              </a:buClr>
            </a:pPr>
            <a:r>
              <a:rPr lang="en-US" sz="2000" dirty="0">
                <a:solidFill>
                  <a:schemeClr val="tx1">
                    <a:lumMod val="75000"/>
                    <a:lumOff val="25000"/>
                  </a:schemeClr>
                </a:solidFill>
                <a:latin typeface="Tenorite" panose="00000500000000000000" pitchFamily="2" charset="0"/>
                <a:cs typeface="Calibri" panose="020F0502020204030204" pitchFamily="34" charset="0"/>
              </a:rPr>
              <a:t>To use the machine learning algorithms provided by </a:t>
            </a:r>
            <a:r>
              <a:rPr lang="en-US" sz="2000" dirty="0" err="1">
                <a:solidFill>
                  <a:schemeClr val="tx1">
                    <a:lumMod val="75000"/>
                    <a:lumOff val="25000"/>
                  </a:schemeClr>
                </a:solidFill>
                <a:latin typeface="Tenorite" panose="00000500000000000000" pitchFamily="2" charset="0"/>
                <a:cs typeface="Calibri" panose="020F0502020204030204" pitchFamily="34" charset="0"/>
              </a:rPr>
              <a:t>MlLib</a:t>
            </a:r>
            <a:r>
              <a:rPr lang="en-US" sz="2000" dirty="0">
                <a:solidFill>
                  <a:schemeClr val="tx1">
                    <a:lumMod val="75000"/>
                    <a:lumOff val="25000"/>
                  </a:schemeClr>
                </a:solidFill>
                <a:latin typeface="Tenorite" panose="00000500000000000000" pitchFamily="2" charset="0"/>
                <a:cs typeface="Calibri" panose="020F0502020204030204" pitchFamily="34" charset="0"/>
              </a:rPr>
              <a:t>, we have to do a few transformations on our input data:</a:t>
            </a:r>
          </a:p>
          <a:p>
            <a:pPr marL="800100" lvl="1"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Convert the label column (i.e., 'isFraud') to </a:t>
            </a:r>
            <a:r>
              <a:rPr lang="en-US" sz="2000" dirty="0" err="1">
                <a:solidFill>
                  <a:schemeClr val="tx1">
                    <a:lumMod val="75000"/>
                    <a:lumOff val="25000"/>
                  </a:schemeClr>
                </a:solidFill>
                <a:latin typeface="Tenorite" panose="00000500000000000000" pitchFamily="2" charset="0"/>
                <a:cs typeface="Calibri" panose="020F0502020204030204" pitchFamily="34" charset="0"/>
              </a:rPr>
              <a:t>doubleType</a:t>
            </a:r>
            <a:r>
              <a:rPr lang="en-US" sz="2000" dirty="0">
                <a:solidFill>
                  <a:schemeClr val="tx1">
                    <a:lumMod val="75000"/>
                    <a:lumOff val="25000"/>
                  </a:schemeClr>
                </a:solidFill>
                <a:latin typeface="Tenorite" panose="00000500000000000000" pitchFamily="2" charset="0"/>
                <a:cs typeface="Calibri" panose="020F0502020204030204" pitchFamily="34" charset="0"/>
              </a:rPr>
              <a:t>.</a:t>
            </a:r>
          </a:p>
          <a:p>
            <a:pPr marL="800100" lvl="1"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Convert the categorical attributes into numeric attributes. The only categorical attribute that we will use is 'type'.</a:t>
            </a:r>
          </a:p>
          <a:p>
            <a:pPr marL="800100" lvl="1"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Combine the values of all feature/attribute columns into a feature vector.</a:t>
            </a:r>
          </a:p>
          <a:p>
            <a:pPr marL="800100" lvl="1"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Pass the feature vector through vector indexer to differentiate between categorical and continuous attribute.</a:t>
            </a:r>
          </a:p>
          <a:p>
            <a:pPr marL="800100" lvl="1" indent="-342900">
              <a:lnSpc>
                <a:spcPct val="150000"/>
              </a:lnSpc>
              <a:spcBef>
                <a:spcPts val="1000"/>
              </a:spcBef>
              <a:buClr>
                <a:srgbClr val="178DBB"/>
              </a:buClr>
              <a:buFont typeface="Wingdings" panose="05000000000000000000" pitchFamily="2" charset="2"/>
              <a:buChar char="Ø"/>
            </a:pPr>
            <a:r>
              <a:rPr lang="en-US" sz="2000" dirty="0">
                <a:solidFill>
                  <a:schemeClr val="tx1">
                    <a:lumMod val="75000"/>
                    <a:lumOff val="25000"/>
                  </a:schemeClr>
                </a:solidFill>
                <a:latin typeface="Tenorite" panose="00000500000000000000" pitchFamily="2" charset="0"/>
                <a:cs typeface="Calibri" panose="020F0502020204030204" pitchFamily="34" charset="0"/>
              </a:rPr>
              <a:t>And since our dataset is of a classification problem, we’ll use different types of </a:t>
            </a:r>
            <a:r>
              <a:rPr lang="en-US" sz="2000" u="sng" dirty="0">
                <a:solidFill>
                  <a:schemeClr val="tx1">
                    <a:lumMod val="75000"/>
                    <a:lumOff val="25000"/>
                  </a:schemeClr>
                </a:solidFill>
                <a:latin typeface="Tenorite" panose="00000500000000000000" pitchFamily="2" charset="0"/>
                <a:cs typeface="Calibri" panose="020F0502020204030204" pitchFamily="34" charset="0"/>
              </a:rPr>
              <a:t>classification machine learning algorithms</a:t>
            </a:r>
            <a:r>
              <a:rPr lang="en-US" sz="2000" dirty="0">
                <a:solidFill>
                  <a:schemeClr val="tx1">
                    <a:lumMod val="75000"/>
                    <a:lumOff val="25000"/>
                  </a:schemeClr>
                </a:solidFill>
                <a:latin typeface="Tenorite" panose="00000500000000000000" pitchFamily="2" charset="0"/>
                <a:cs typeface="Calibri" panose="020F0502020204030204" pitchFamily="34" charset="0"/>
              </a:rPr>
              <a:t>.</a:t>
            </a:r>
          </a:p>
        </p:txBody>
      </p:sp>
    </p:spTree>
    <p:extLst>
      <p:ext uri="{BB962C8B-B14F-4D97-AF65-F5344CB8AC3E}">
        <p14:creationId xmlns:p14="http://schemas.microsoft.com/office/powerpoint/2010/main" val="2187474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5920D-8720-421B-9213-DEC710759BD2}"/>
              </a:ext>
            </a:extLst>
          </p:cNvPr>
          <p:cNvSpPr txBox="1">
            <a:spLocks/>
          </p:cNvSpPr>
          <p:nvPr/>
        </p:nvSpPr>
        <p:spPr>
          <a:xfrm>
            <a:off x="3752479" y="645106"/>
            <a:ext cx="4687043" cy="76700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MODELS USED</a:t>
            </a:r>
          </a:p>
        </p:txBody>
      </p:sp>
      <p:sp>
        <p:nvSpPr>
          <p:cNvPr id="3" name="TextBox 2">
            <a:extLst>
              <a:ext uri="{FF2B5EF4-FFF2-40B4-BE49-F238E27FC236}">
                <a16:creationId xmlns:a16="http://schemas.microsoft.com/office/drawing/2014/main" id="{FB782FF6-E591-4CC7-A518-69D0D7883851}"/>
              </a:ext>
            </a:extLst>
          </p:cNvPr>
          <p:cNvSpPr txBox="1"/>
          <p:nvPr/>
        </p:nvSpPr>
        <p:spPr>
          <a:xfrm>
            <a:off x="1238491" y="1905658"/>
            <a:ext cx="4687043" cy="665823"/>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b="1" dirty="0">
                <a:solidFill>
                  <a:srgbClr val="178DBB"/>
                </a:solidFill>
                <a:latin typeface="Tenorite" panose="00000500000000000000" pitchFamily="2" charset="0"/>
                <a:cs typeface="Calibri" panose="020F0502020204030204" pitchFamily="34" charset="0"/>
              </a:rPr>
              <a:t>LOGISTIC REGRESSION </a:t>
            </a:r>
          </a:p>
        </p:txBody>
      </p:sp>
      <p:pic>
        <p:nvPicPr>
          <p:cNvPr id="5" name="Picture 4">
            <a:extLst>
              <a:ext uri="{FF2B5EF4-FFF2-40B4-BE49-F238E27FC236}">
                <a16:creationId xmlns:a16="http://schemas.microsoft.com/office/drawing/2014/main" id="{9F3A8D12-3335-4018-8B86-FE16A2E0A3A2}"/>
              </a:ext>
            </a:extLst>
          </p:cNvPr>
          <p:cNvPicPr>
            <a:picLocks noChangeAspect="1"/>
          </p:cNvPicPr>
          <p:nvPr/>
        </p:nvPicPr>
        <p:blipFill>
          <a:blip r:embed="rId2"/>
          <a:stretch>
            <a:fillRect/>
          </a:stretch>
        </p:blipFill>
        <p:spPr>
          <a:xfrm>
            <a:off x="5648094" y="2704595"/>
            <a:ext cx="6274366" cy="3757687"/>
          </a:xfrm>
          <a:prstGeom prst="rect">
            <a:avLst/>
          </a:prstGeom>
        </p:spPr>
      </p:pic>
      <p:sp>
        <p:nvSpPr>
          <p:cNvPr id="6" name="TextBox 5">
            <a:extLst>
              <a:ext uri="{FF2B5EF4-FFF2-40B4-BE49-F238E27FC236}">
                <a16:creationId xmlns:a16="http://schemas.microsoft.com/office/drawing/2014/main" id="{7B97958D-D8BB-4C95-B5F4-02C38703DC37}"/>
              </a:ext>
            </a:extLst>
          </p:cNvPr>
          <p:cNvSpPr txBox="1"/>
          <p:nvPr/>
        </p:nvSpPr>
        <p:spPr>
          <a:xfrm>
            <a:off x="1238491" y="3647665"/>
            <a:ext cx="4409603" cy="2348592"/>
          </a:xfrm>
          <a:prstGeom prst="rect">
            <a:avLst/>
          </a:prstGeom>
          <a:noFill/>
        </p:spPr>
        <p:txBody>
          <a:bodyPr wrap="square" rtlCol="0">
            <a:spAutoFit/>
          </a:bodyPr>
          <a:lstStyle/>
          <a:p>
            <a:pPr>
              <a:lnSpc>
                <a:spcPct val="150000"/>
              </a:lnSpc>
            </a:pPr>
            <a:r>
              <a:rPr lang="en-US" sz="2000" dirty="0">
                <a:latin typeface="Tenorite" panose="00000500000000000000" pitchFamily="2" charset="0"/>
                <a:cs typeface="Calibri" panose="020F0502020204030204" pitchFamily="34" charset="0"/>
              </a:rPr>
              <a:t>The accuracy of Logistic Regression came out to be 0.997023 which is great, and it means our model was able to correctly predict almost all the test data points.</a:t>
            </a:r>
          </a:p>
        </p:txBody>
      </p:sp>
    </p:spTree>
    <p:extLst>
      <p:ext uri="{BB962C8B-B14F-4D97-AF65-F5344CB8AC3E}">
        <p14:creationId xmlns:p14="http://schemas.microsoft.com/office/powerpoint/2010/main" val="674562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24E5ABB-C89F-4670-9F30-AA31DF670483}"/>
              </a:ext>
            </a:extLst>
          </p:cNvPr>
          <p:cNvSpPr txBox="1">
            <a:spLocks/>
          </p:cNvSpPr>
          <p:nvPr/>
        </p:nvSpPr>
        <p:spPr>
          <a:xfrm>
            <a:off x="3752479" y="645106"/>
            <a:ext cx="4687043" cy="76700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MODELS USED</a:t>
            </a:r>
          </a:p>
        </p:txBody>
      </p:sp>
      <p:sp>
        <p:nvSpPr>
          <p:cNvPr id="3" name="TextBox 2">
            <a:extLst>
              <a:ext uri="{FF2B5EF4-FFF2-40B4-BE49-F238E27FC236}">
                <a16:creationId xmlns:a16="http://schemas.microsoft.com/office/drawing/2014/main" id="{FB782FF6-E591-4CC7-A518-69D0D7883851}"/>
              </a:ext>
            </a:extLst>
          </p:cNvPr>
          <p:cNvSpPr txBox="1"/>
          <p:nvPr/>
        </p:nvSpPr>
        <p:spPr>
          <a:xfrm>
            <a:off x="1210416" y="1919712"/>
            <a:ext cx="6648090" cy="671851"/>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b="1" dirty="0">
                <a:solidFill>
                  <a:srgbClr val="178DBB"/>
                </a:solidFill>
                <a:latin typeface="Tenorite" panose="00000500000000000000" pitchFamily="2" charset="0"/>
                <a:cs typeface="Calibri" panose="020F0502020204030204" pitchFamily="34" charset="0"/>
              </a:rPr>
              <a:t>LINEAR SUPPORT VECTOR CLASSIFIER </a:t>
            </a:r>
          </a:p>
        </p:txBody>
      </p:sp>
      <p:pic>
        <p:nvPicPr>
          <p:cNvPr id="7" name="Picture 6">
            <a:extLst>
              <a:ext uri="{FF2B5EF4-FFF2-40B4-BE49-F238E27FC236}">
                <a16:creationId xmlns:a16="http://schemas.microsoft.com/office/drawing/2014/main" id="{F902F96C-86ED-4C34-B64D-7C966C032675}"/>
              </a:ext>
            </a:extLst>
          </p:cNvPr>
          <p:cNvPicPr>
            <a:picLocks noChangeAspect="1"/>
          </p:cNvPicPr>
          <p:nvPr/>
        </p:nvPicPr>
        <p:blipFill>
          <a:blip r:embed="rId2"/>
          <a:stretch>
            <a:fillRect/>
          </a:stretch>
        </p:blipFill>
        <p:spPr>
          <a:xfrm>
            <a:off x="5595596" y="2738055"/>
            <a:ext cx="6320429" cy="3757687"/>
          </a:xfrm>
          <a:prstGeom prst="rect">
            <a:avLst/>
          </a:prstGeom>
        </p:spPr>
      </p:pic>
      <p:sp>
        <p:nvSpPr>
          <p:cNvPr id="6" name="TextBox 5">
            <a:extLst>
              <a:ext uri="{FF2B5EF4-FFF2-40B4-BE49-F238E27FC236}">
                <a16:creationId xmlns:a16="http://schemas.microsoft.com/office/drawing/2014/main" id="{7B97958D-D8BB-4C95-B5F4-02C38703DC37}"/>
              </a:ext>
            </a:extLst>
          </p:cNvPr>
          <p:cNvSpPr txBox="1"/>
          <p:nvPr/>
        </p:nvSpPr>
        <p:spPr>
          <a:xfrm>
            <a:off x="1238491" y="3678951"/>
            <a:ext cx="3540373" cy="1891287"/>
          </a:xfrm>
          <a:prstGeom prst="rect">
            <a:avLst/>
          </a:prstGeom>
          <a:noFill/>
        </p:spPr>
        <p:txBody>
          <a:bodyPr wrap="square" rtlCol="0">
            <a:spAutoFit/>
          </a:bodyPr>
          <a:lstStyle/>
          <a:p>
            <a:pPr>
              <a:lnSpc>
                <a:spcPct val="150000"/>
              </a:lnSpc>
            </a:pPr>
            <a:r>
              <a:rPr lang="en-US" sz="2000" dirty="0">
                <a:latin typeface="Tenorite" panose="00000500000000000000" pitchFamily="2" charset="0"/>
                <a:cs typeface="Calibri" panose="020F0502020204030204" pitchFamily="34" charset="0"/>
              </a:rPr>
              <a:t>The accuracy of LSVC came out to be 0.997311 which is better than our past model of logistic regression.</a:t>
            </a:r>
          </a:p>
        </p:txBody>
      </p:sp>
    </p:spTree>
    <p:extLst>
      <p:ext uri="{BB962C8B-B14F-4D97-AF65-F5344CB8AC3E}">
        <p14:creationId xmlns:p14="http://schemas.microsoft.com/office/powerpoint/2010/main" val="3651103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5920D-8720-421B-9213-DEC710759BD2}"/>
              </a:ext>
            </a:extLst>
          </p:cNvPr>
          <p:cNvSpPr txBox="1">
            <a:spLocks/>
          </p:cNvSpPr>
          <p:nvPr/>
        </p:nvSpPr>
        <p:spPr>
          <a:xfrm>
            <a:off x="4223183" y="645106"/>
            <a:ext cx="3745634" cy="92905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MODELS USED</a:t>
            </a:r>
          </a:p>
        </p:txBody>
      </p:sp>
      <p:sp>
        <p:nvSpPr>
          <p:cNvPr id="3" name="TextBox 2">
            <a:extLst>
              <a:ext uri="{FF2B5EF4-FFF2-40B4-BE49-F238E27FC236}">
                <a16:creationId xmlns:a16="http://schemas.microsoft.com/office/drawing/2014/main" id="{FB782FF6-E591-4CC7-A518-69D0D7883851}"/>
              </a:ext>
            </a:extLst>
          </p:cNvPr>
          <p:cNvSpPr txBox="1"/>
          <p:nvPr/>
        </p:nvSpPr>
        <p:spPr>
          <a:xfrm>
            <a:off x="1210416" y="1919477"/>
            <a:ext cx="4885584" cy="665823"/>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b="1" dirty="0">
                <a:solidFill>
                  <a:srgbClr val="178DBB"/>
                </a:solidFill>
                <a:latin typeface="Tenorite" panose="00000500000000000000" pitchFamily="2" charset="0"/>
                <a:cs typeface="Calibri" panose="020F0502020204030204" pitchFamily="34" charset="0"/>
              </a:rPr>
              <a:t>NAÏVE BAYES CLASSIFIER </a:t>
            </a:r>
          </a:p>
        </p:txBody>
      </p:sp>
      <p:sp>
        <p:nvSpPr>
          <p:cNvPr id="6" name="TextBox 5">
            <a:extLst>
              <a:ext uri="{FF2B5EF4-FFF2-40B4-BE49-F238E27FC236}">
                <a16:creationId xmlns:a16="http://schemas.microsoft.com/office/drawing/2014/main" id="{7B97958D-D8BB-4C95-B5F4-02C38703DC37}"/>
              </a:ext>
            </a:extLst>
          </p:cNvPr>
          <p:cNvSpPr txBox="1"/>
          <p:nvPr/>
        </p:nvSpPr>
        <p:spPr>
          <a:xfrm>
            <a:off x="1238490" y="3678951"/>
            <a:ext cx="3540373" cy="1891287"/>
          </a:xfrm>
          <a:prstGeom prst="rect">
            <a:avLst/>
          </a:prstGeom>
          <a:noFill/>
        </p:spPr>
        <p:txBody>
          <a:bodyPr wrap="square" rtlCol="0">
            <a:spAutoFit/>
          </a:bodyPr>
          <a:lstStyle/>
          <a:p>
            <a:pPr>
              <a:lnSpc>
                <a:spcPct val="150000"/>
              </a:lnSpc>
            </a:pPr>
            <a:r>
              <a:rPr lang="en-US" sz="2000" dirty="0">
                <a:latin typeface="Tenorite" panose="00000500000000000000" pitchFamily="2" charset="0"/>
                <a:cs typeface="Calibri" panose="020F0502020204030204" pitchFamily="34" charset="0"/>
              </a:rPr>
              <a:t>The accuracy of NB classifier came out to be 0.9851 which is worse than both of our past models.</a:t>
            </a:r>
          </a:p>
        </p:txBody>
      </p:sp>
      <p:pic>
        <p:nvPicPr>
          <p:cNvPr id="5" name="Picture 4">
            <a:extLst>
              <a:ext uri="{FF2B5EF4-FFF2-40B4-BE49-F238E27FC236}">
                <a16:creationId xmlns:a16="http://schemas.microsoft.com/office/drawing/2014/main" id="{75806067-CA9B-4CB2-A9D0-D04815AC6E0D}"/>
              </a:ext>
            </a:extLst>
          </p:cNvPr>
          <p:cNvPicPr>
            <a:picLocks noChangeAspect="1"/>
          </p:cNvPicPr>
          <p:nvPr/>
        </p:nvPicPr>
        <p:blipFill>
          <a:blip r:embed="rId2"/>
          <a:stretch>
            <a:fillRect/>
          </a:stretch>
        </p:blipFill>
        <p:spPr>
          <a:xfrm>
            <a:off x="5595596" y="2738055"/>
            <a:ext cx="5640222" cy="3757687"/>
          </a:xfrm>
          <a:prstGeom prst="rect">
            <a:avLst/>
          </a:prstGeom>
        </p:spPr>
      </p:pic>
    </p:spTree>
    <p:extLst>
      <p:ext uri="{BB962C8B-B14F-4D97-AF65-F5344CB8AC3E}">
        <p14:creationId xmlns:p14="http://schemas.microsoft.com/office/powerpoint/2010/main" val="51779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5920D-8720-421B-9213-DEC710759BD2}"/>
              </a:ext>
            </a:extLst>
          </p:cNvPr>
          <p:cNvSpPr txBox="1">
            <a:spLocks/>
          </p:cNvSpPr>
          <p:nvPr/>
        </p:nvSpPr>
        <p:spPr>
          <a:xfrm>
            <a:off x="4105507" y="645106"/>
            <a:ext cx="3980987" cy="8480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MODELS USED</a:t>
            </a:r>
          </a:p>
        </p:txBody>
      </p:sp>
      <p:sp>
        <p:nvSpPr>
          <p:cNvPr id="3" name="TextBox 2">
            <a:extLst>
              <a:ext uri="{FF2B5EF4-FFF2-40B4-BE49-F238E27FC236}">
                <a16:creationId xmlns:a16="http://schemas.microsoft.com/office/drawing/2014/main" id="{FB782FF6-E591-4CC7-A518-69D0D7883851}"/>
              </a:ext>
            </a:extLst>
          </p:cNvPr>
          <p:cNvSpPr txBox="1"/>
          <p:nvPr/>
        </p:nvSpPr>
        <p:spPr>
          <a:xfrm>
            <a:off x="1210416" y="1914624"/>
            <a:ext cx="4982040" cy="671851"/>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b="1" dirty="0">
                <a:solidFill>
                  <a:srgbClr val="178DBB"/>
                </a:solidFill>
                <a:latin typeface="Tenorite" panose="00000500000000000000" pitchFamily="2" charset="0"/>
                <a:cs typeface="Calibri" panose="020F0502020204030204" pitchFamily="34" charset="0"/>
              </a:rPr>
              <a:t>DECISION TREE CLASSIFIER </a:t>
            </a:r>
          </a:p>
        </p:txBody>
      </p:sp>
      <p:sp>
        <p:nvSpPr>
          <p:cNvPr id="6" name="TextBox 5">
            <a:extLst>
              <a:ext uri="{FF2B5EF4-FFF2-40B4-BE49-F238E27FC236}">
                <a16:creationId xmlns:a16="http://schemas.microsoft.com/office/drawing/2014/main" id="{7B97958D-D8BB-4C95-B5F4-02C38703DC37}"/>
              </a:ext>
            </a:extLst>
          </p:cNvPr>
          <p:cNvSpPr txBox="1"/>
          <p:nvPr/>
        </p:nvSpPr>
        <p:spPr>
          <a:xfrm>
            <a:off x="1238491" y="3673863"/>
            <a:ext cx="3540373" cy="1891287"/>
          </a:xfrm>
          <a:prstGeom prst="rect">
            <a:avLst/>
          </a:prstGeom>
          <a:noFill/>
        </p:spPr>
        <p:txBody>
          <a:bodyPr wrap="square" rtlCol="0">
            <a:spAutoFit/>
          </a:bodyPr>
          <a:lstStyle/>
          <a:p>
            <a:pPr>
              <a:lnSpc>
                <a:spcPct val="150000"/>
              </a:lnSpc>
            </a:pPr>
            <a:r>
              <a:rPr lang="en-US" sz="2000" dirty="0">
                <a:latin typeface="Tenorite" panose="00000500000000000000" pitchFamily="2" charset="0"/>
                <a:cs typeface="Calibri" panose="020F0502020204030204" pitchFamily="34" charset="0"/>
              </a:rPr>
              <a:t>The accuracy of DT classifier came out to be 0.998 which is better than all three past models.</a:t>
            </a:r>
          </a:p>
        </p:txBody>
      </p:sp>
      <p:pic>
        <p:nvPicPr>
          <p:cNvPr id="7" name="Picture 6">
            <a:extLst>
              <a:ext uri="{FF2B5EF4-FFF2-40B4-BE49-F238E27FC236}">
                <a16:creationId xmlns:a16="http://schemas.microsoft.com/office/drawing/2014/main" id="{71C976B7-35BC-4C0D-895A-3B2A3B7C788D}"/>
              </a:ext>
            </a:extLst>
          </p:cNvPr>
          <p:cNvPicPr>
            <a:picLocks noChangeAspect="1"/>
          </p:cNvPicPr>
          <p:nvPr/>
        </p:nvPicPr>
        <p:blipFill>
          <a:blip r:embed="rId2"/>
          <a:stretch>
            <a:fillRect/>
          </a:stretch>
        </p:blipFill>
        <p:spPr>
          <a:xfrm>
            <a:off x="5595596" y="2738055"/>
            <a:ext cx="6374648" cy="3757687"/>
          </a:xfrm>
          <a:prstGeom prst="rect">
            <a:avLst/>
          </a:prstGeom>
        </p:spPr>
      </p:pic>
    </p:spTree>
    <p:extLst>
      <p:ext uri="{BB962C8B-B14F-4D97-AF65-F5344CB8AC3E}">
        <p14:creationId xmlns:p14="http://schemas.microsoft.com/office/powerpoint/2010/main" val="3736221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565070-92F9-4636-A1B6-02F117C6A671}"/>
              </a:ext>
            </a:extLst>
          </p:cNvPr>
          <p:cNvSpPr txBox="1">
            <a:spLocks/>
          </p:cNvSpPr>
          <p:nvPr/>
        </p:nvSpPr>
        <p:spPr>
          <a:xfrm>
            <a:off x="3752479" y="645106"/>
            <a:ext cx="4687043" cy="76700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MODELS USED</a:t>
            </a:r>
          </a:p>
        </p:txBody>
      </p:sp>
      <p:sp>
        <p:nvSpPr>
          <p:cNvPr id="6" name="TextBox 5">
            <a:extLst>
              <a:ext uri="{FF2B5EF4-FFF2-40B4-BE49-F238E27FC236}">
                <a16:creationId xmlns:a16="http://schemas.microsoft.com/office/drawing/2014/main" id="{7B97958D-D8BB-4C95-B5F4-02C38703DC37}"/>
              </a:ext>
            </a:extLst>
          </p:cNvPr>
          <p:cNvSpPr txBox="1"/>
          <p:nvPr/>
        </p:nvSpPr>
        <p:spPr>
          <a:xfrm>
            <a:off x="1238491" y="3681605"/>
            <a:ext cx="3540373" cy="2814617"/>
          </a:xfrm>
          <a:prstGeom prst="rect">
            <a:avLst/>
          </a:prstGeom>
          <a:noFill/>
        </p:spPr>
        <p:txBody>
          <a:bodyPr wrap="square" rtlCol="0">
            <a:spAutoFit/>
          </a:bodyPr>
          <a:lstStyle/>
          <a:p>
            <a:pPr>
              <a:lnSpc>
                <a:spcPct val="150000"/>
              </a:lnSpc>
            </a:pPr>
            <a:r>
              <a:rPr lang="en-US" sz="2000" dirty="0">
                <a:latin typeface="Tenorite" panose="00000500000000000000" pitchFamily="2" charset="0"/>
                <a:cs typeface="Calibri" panose="020F0502020204030204" pitchFamily="34" charset="0"/>
              </a:rPr>
              <a:t>The accuracy of RF classifier came out to be 0.998 which is almost equal to decision tree classifier which makes sense as it uses multiple decision trees in its processing.</a:t>
            </a:r>
          </a:p>
        </p:txBody>
      </p:sp>
      <p:sp>
        <p:nvSpPr>
          <p:cNvPr id="3" name="TextBox 2">
            <a:extLst>
              <a:ext uri="{FF2B5EF4-FFF2-40B4-BE49-F238E27FC236}">
                <a16:creationId xmlns:a16="http://schemas.microsoft.com/office/drawing/2014/main" id="{FB782FF6-E591-4CC7-A518-69D0D7883851}"/>
              </a:ext>
            </a:extLst>
          </p:cNvPr>
          <p:cNvSpPr txBox="1"/>
          <p:nvPr/>
        </p:nvSpPr>
        <p:spPr>
          <a:xfrm>
            <a:off x="1210416" y="1919712"/>
            <a:ext cx="5282981" cy="671851"/>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b="1" dirty="0">
                <a:solidFill>
                  <a:srgbClr val="178DBB"/>
                </a:solidFill>
                <a:latin typeface="Tenorite" panose="00000500000000000000" pitchFamily="2" charset="0"/>
                <a:cs typeface="Calibri" panose="020F0502020204030204" pitchFamily="34" charset="0"/>
              </a:rPr>
              <a:t>RANDOM FOREST CLASSIFIER </a:t>
            </a:r>
          </a:p>
        </p:txBody>
      </p:sp>
      <p:pic>
        <p:nvPicPr>
          <p:cNvPr id="5" name="Picture 4">
            <a:extLst>
              <a:ext uri="{FF2B5EF4-FFF2-40B4-BE49-F238E27FC236}">
                <a16:creationId xmlns:a16="http://schemas.microsoft.com/office/drawing/2014/main" id="{016E942B-3D8C-4F94-A13C-7B5B6F3B39F8}"/>
              </a:ext>
            </a:extLst>
          </p:cNvPr>
          <p:cNvPicPr>
            <a:picLocks noChangeAspect="1"/>
          </p:cNvPicPr>
          <p:nvPr/>
        </p:nvPicPr>
        <p:blipFill rotWithShape="1">
          <a:blip r:embed="rId2"/>
          <a:srcRect r="9690"/>
          <a:stretch/>
        </p:blipFill>
        <p:spPr>
          <a:xfrm>
            <a:off x="5595596" y="2738055"/>
            <a:ext cx="6256880" cy="3789997"/>
          </a:xfrm>
          <a:prstGeom prst="rect">
            <a:avLst/>
          </a:prstGeom>
        </p:spPr>
      </p:pic>
    </p:spTree>
    <p:extLst>
      <p:ext uri="{BB962C8B-B14F-4D97-AF65-F5344CB8AC3E}">
        <p14:creationId xmlns:p14="http://schemas.microsoft.com/office/powerpoint/2010/main" val="2143012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4E680E-035E-4D28-9A41-4FF1858B5A41}"/>
              </a:ext>
            </a:extLst>
          </p:cNvPr>
          <p:cNvPicPr>
            <a:picLocks noChangeAspect="1"/>
          </p:cNvPicPr>
          <p:nvPr/>
        </p:nvPicPr>
        <p:blipFill rotWithShape="1">
          <a:blip r:embed="rId2"/>
          <a:srcRect r="8371"/>
          <a:stretch/>
        </p:blipFill>
        <p:spPr>
          <a:xfrm>
            <a:off x="1002682" y="1898483"/>
            <a:ext cx="4873199" cy="3061034"/>
          </a:xfrm>
          <a:prstGeom prst="rect">
            <a:avLst/>
          </a:prstGeom>
        </p:spPr>
      </p:pic>
      <p:sp>
        <p:nvSpPr>
          <p:cNvPr id="2" name="Title 1">
            <a:extLst>
              <a:ext uri="{FF2B5EF4-FFF2-40B4-BE49-F238E27FC236}">
                <a16:creationId xmlns:a16="http://schemas.microsoft.com/office/drawing/2014/main" id="{8025920D-8720-421B-9213-DEC710759BD2}"/>
              </a:ext>
            </a:extLst>
          </p:cNvPr>
          <p:cNvSpPr txBox="1">
            <a:spLocks/>
          </p:cNvSpPr>
          <p:nvPr/>
        </p:nvSpPr>
        <p:spPr>
          <a:xfrm>
            <a:off x="3773348" y="645106"/>
            <a:ext cx="4803494" cy="8711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dirty="0">
                <a:solidFill>
                  <a:srgbClr val="178DBB"/>
                </a:solidFill>
                <a:latin typeface="Tenorite Display" panose="00000500000000000000" pitchFamily="2" charset="0"/>
              </a:rPr>
              <a:t>CONCLUSION</a:t>
            </a:r>
          </a:p>
        </p:txBody>
      </p:sp>
      <p:sp>
        <p:nvSpPr>
          <p:cNvPr id="6" name="TextBox 5">
            <a:extLst>
              <a:ext uri="{FF2B5EF4-FFF2-40B4-BE49-F238E27FC236}">
                <a16:creationId xmlns:a16="http://schemas.microsoft.com/office/drawing/2014/main" id="{7B97958D-D8BB-4C95-B5F4-02C38703DC37}"/>
              </a:ext>
            </a:extLst>
          </p:cNvPr>
          <p:cNvSpPr txBox="1"/>
          <p:nvPr/>
        </p:nvSpPr>
        <p:spPr>
          <a:xfrm>
            <a:off x="6096000" y="2252524"/>
            <a:ext cx="4872942" cy="2352952"/>
          </a:xfrm>
          <a:prstGeom prst="rect">
            <a:avLst/>
          </a:prstGeom>
          <a:noFill/>
        </p:spPr>
        <p:txBody>
          <a:bodyPr wrap="square" rtlCol="0">
            <a:spAutoFit/>
          </a:bodyPr>
          <a:lstStyle/>
          <a:p>
            <a:pPr>
              <a:lnSpc>
                <a:spcPct val="150000"/>
              </a:lnSpc>
            </a:pPr>
            <a:r>
              <a:rPr lang="en-US" sz="2000" dirty="0">
                <a:latin typeface="Tenorite" panose="00000500000000000000" pitchFamily="2" charset="0"/>
                <a:cs typeface="Calibri" panose="020F0502020204030204" pitchFamily="34" charset="0"/>
              </a:rPr>
              <a:t>Here a new </a:t>
            </a:r>
            <a:r>
              <a:rPr lang="en-US" sz="2000" dirty="0" err="1">
                <a:latin typeface="Tenorite" panose="00000500000000000000" pitchFamily="2" charset="0"/>
                <a:cs typeface="Calibri" panose="020F0502020204030204" pitchFamily="34" charset="0"/>
              </a:rPr>
              <a:t>DataFrame</a:t>
            </a:r>
            <a:r>
              <a:rPr lang="en-US" sz="2000" dirty="0">
                <a:latin typeface="Tenorite" panose="00000500000000000000" pitchFamily="2" charset="0"/>
                <a:cs typeface="Calibri" panose="020F0502020204030204" pitchFamily="34" charset="0"/>
              </a:rPr>
              <a:t> has been created just to compare how all 5 of our models are doing, and we can easily observe that </a:t>
            </a:r>
            <a:r>
              <a:rPr lang="en-US" sz="2000" b="1" u="sng" dirty="0">
                <a:latin typeface="Tenorite" panose="00000500000000000000" pitchFamily="2" charset="0"/>
                <a:cs typeface="Calibri" panose="020F0502020204030204" pitchFamily="34" charset="0"/>
              </a:rPr>
              <a:t>DECISION TREE CLASSIFIER</a:t>
            </a:r>
            <a:r>
              <a:rPr lang="en-US" sz="2000" dirty="0">
                <a:latin typeface="Tenorite" panose="00000500000000000000" pitchFamily="2" charset="0"/>
                <a:cs typeface="Calibri" panose="020F0502020204030204" pitchFamily="34" charset="0"/>
              </a:rPr>
              <a:t> gave us the best result. </a:t>
            </a:r>
          </a:p>
        </p:txBody>
      </p:sp>
    </p:spTree>
    <p:extLst>
      <p:ext uri="{BB962C8B-B14F-4D97-AF65-F5344CB8AC3E}">
        <p14:creationId xmlns:p14="http://schemas.microsoft.com/office/powerpoint/2010/main" val="2568090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527CD9-5540-475B-ACCC-3C35B20802DD}"/>
              </a:ext>
            </a:extLst>
          </p:cNvPr>
          <p:cNvSpPr txBox="1"/>
          <p:nvPr/>
        </p:nvSpPr>
        <p:spPr>
          <a:xfrm>
            <a:off x="3414532" y="2767281"/>
            <a:ext cx="5362937" cy="1323439"/>
          </a:xfrm>
          <a:prstGeom prst="rect">
            <a:avLst/>
          </a:prstGeom>
          <a:noFill/>
        </p:spPr>
        <p:txBody>
          <a:bodyPr wrap="square" rtlCol="0">
            <a:spAutoFit/>
          </a:bodyPr>
          <a:lstStyle/>
          <a:p>
            <a:pPr algn="ctr"/>
            <a:r>
              <a:rPr lang="en-US" sz="8000" b="1" dirty="0">
                <a:ln w="0"/>
                <a:solidFill>
                  <a:srgbClr val="178DBB"/>
                </a:solidFill>
                <a:effectLst>
                  <a:outerShdw blurRad="38100" dist="19050" dir="2700000" algn="tl" rotWithShape="0">
                    <a:schemeClr val="dk1">
                      <a:alpha val="40000"/>
                    </a:schemeClr>
                  </a:outerShdw>
                </a:effectLst>
                <a:latin typeface="Tenorite Display" panose="00000500000000000000" pitchFamily="2" charset="0"/>
                <a:cs typeface="Calibri" panose="020F0502020204030204" pitchFamily="34" charset="0"/>
              </a:rPr>
              <a:t>THANK YOU</a:t>
            </a:r>
          </a:p>
        </p:txBody>
      </p:sp>
    </p:spTree>
    <p:extLst>
      <p:ext uri="{BB962C8B-B14F-4D97-AF65-F5344CB8AC3E}">
        <p14:creationId xmlns:p14="http://schemas.microsoft.com/office/powerpoint/2010/main" val="3494561968"/>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2E0EEAC1A1F694287F61BAAEA683E39" ma:contentTypeVersion="4" ma:contentTypeDescription="Create a new document." ma:contentTypeScope="" ma:versionID="71fc1dcdc641ba66b4a38208e09973a6">
  <xsd:schema xmlns:xsd="http://www.w3.org/2001/XMLSchema" xmlns:xs="http://www.w3.org/2001/XMLSchema" xmlns:p="http://schemas.microsoft.com/office/2006/metadata/properties" xmlns:ns3="5a1d7b3d-f008-48a7-a02c-7ba003175178" targetNamespace="http://schemas.microsoft.com/office/2006/metadata/properties" ma:root="true" ma:fieldsID="5ae0eb2b423da429937d974452816412" ns3:_="">
    <xsd:import namespace="5a1d7b3d-f008-48a7-a02c-7ba003175178"/>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1d7b3d-f008-48a7-a02c-7ba0031751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24DAF8-18F3-47AE-BDE6-AAFA8954C4F2}">
  <ds:schemaRefs>
    <ds:schemaRef ds:uri="http://schemas.microsoft.com/sharepoint/v3/contenttype/forms"/>
  </ds:schemaRefs>
</ds:datastoreItem>
</file>

<file path=customXml/itemProps2.xml><?xml version="1.0" encoding="utf-8"?>
<ds:datastoreItem xmlns:ds="http://schemas.openxmlformats.org/officeDocument/2006/customXml" ds:itemID="{E1FB9FFA-A225-401A-9800-8866507738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1d7b3d-f008-48a7-a02c-7ba0031751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651790-9F0E-4E50-93B6-60B1991DA88A}">
  <ds:schemaRefs>
    <ds:schemaRef ds:uri="5a1d7b3d-f008-48a7-a02c-7ba003175178"/>
    <ds:schemaRef ds:uri="http://schemas.microsoft.com/office/2006/documentManagement/types"/>
    <ds:schemaRef ds:uri="http://www.w3.org/XML/1998/namespace"/>
    <ds:schemaRef ds:uri="http://schemas.microsoft.com/office/infopath/2007/PartnerControls"/>
    <ds:schemaRef ds:uri="http://purl.org/dc/dcmitype/"/>
    <ds:schemaRef ds:uri="http://purl.org/dc/elements/1.1/"/>
    <ds:schemaRef ds:uri="http://schemas.microsoft.com/office/2006/metadata/properties"/>
    <ds:schemaRef ds:uri="http://purl.org/dc/term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Slice</Template>
  <TotalTime>593</TotalTime>
  <Words>1305</Words>
  <Application>Microsoft Office PowerPoint</Application>
  <PresentationFormat>Widescreen</PresentationFormat>
  <Paragraphs>98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Century Gothic</vt:lpstr>
      <vt:lpstr>Tenorite</vt:lpstr>
      <vt:lpstr>Tenorite Display</vt:lpstr>
      <vt:lpstr>Wingdings</vt:lpstr>
      <vt:lpstr>Wingdings 3</vt:lpstr>
      <vt:lpstr>Slice</vt:lpstr>
      <vt:lpstr>BDSN Assignment</vt:lpstr>
      <vt:lpstr>QUICK GLANCE AT THE DATASET</vt:lpstr>
      <vt:lpstr>PowerPoint Presentation</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BDSN Assignment</dc:title>
  <dc:creator>shobhit sharma</dc:creator>
  <cp:lastModifiedBy>shobhit sharma</cp:lastModifiedBy>
  <cp:revision>3</cp:revision>
  <dcterms:created xsi:type="dcterms:W3CDTF">2022-03-04T09:33:36Z</dcterms:created>
  <dcterms:modified xsi:type="dcterms:W3CDTF">2022-03-05T08:02:05Z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0x010100B2E0EEAC1A1F694287F61BAAEA683E39</vt:lpwstr>
  </property>
</Properties>
</file>